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23" dt="2026-10-28T21:22:12.387"/>
    <p1510:client id="{5127D456-18C6-4CA5-ED3B-9190FA0C0FE0}" v="1" dt="2026-10-28T22:52:13.046"/>
    <p1510:client id="{D829A025-A70D-5C4E-A1AA-7147946F068D}" v="403" dt="2026-10-28T20:29:01.6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0C10"/>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E5091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2480" y="451104"/>
            <a:ext cx="4572000" cy="169277"/>
          </a:xfrm>
          <a:prstGeom prst="rect">
            <a:avLst/>
          </a:prstGeom>
          <a:noFill/>
          <a:ln/>
        </p:spPr>
        <p:txBody>
          <a:bodyPr wrap="square" lIns="0" tIns="0" rIns="0" bIns="0" anchor="t">
            <a:spAutoFit/>
          </a:bodyPr>
          <a:lstStyle/>
          <a:p>
            <a:pPr>
              <a:spcAft>
                <a:spcPts val="300"/>
              </a:spcAft>
              <a:defRPr sz="1100" b="1">
                <a:solidFill>
                  <a:srgbClr val="C51C2C"/>
                </a:solidFill>
                <a:latin typeface="Aptos"/>
              </a:defRPr>
            </a:pPr>
            <a:r>
              <a:rPr b="1">
                <a:solidFill>
                  <a:srgbClr val="E50914"/>
                </a:solidFill>
                <a:latin typeface="Seaford"/>
              </a:rPr>
              <a:t>DATA 110  /  PROJECT 01</a:t>
            </a:r>
            <a:endParaRPr lang="en-US" b="1">
              <a:solidFill>
                <a:srgbClr val="E50914"/>
              </a:solidFill>
              <a:latin typeface="Seaford"/>
              <a:ea typeface="Roboto Condensed"/>
              <a:cs typeface="Roboto Condensed"/>
            </a:endParaRPr>
          </a:p>
        </p:txBody>
      </p:sp>
      <p:sp>
        <p:nvSpPr>
          <p:cNvPr id="6" name="TextBox 5"/>
          <p:cNvSpPr txBox="1"/>
          <p:nvPr/>
        </p:nvSpPr>
        <p:spPr>
          <a:xfrm>
            <a:off x="11338560" y="6409944"/>
            <a:ext cx="329184" cy="237744"/>
          </a:xfrm>
          <a:prstGeom prst="rect">
            <a:avLst/>
          </a:prstGeom>
          <a:noFill/>
          <a:ln/>
        </p:spPr>
        <p:txBody>
          <a:bodyPr wrap="square" lIns="0" tIns="0" rIns="0" bIns="0">
            <a:spAutoFit/>
          </a:bodyPr>
          <a:lstStyle/>
          <a:p>
            <a:pPr algn="r">
              <a:spcAft>
                <a:spcPts val="300"/>
              </a:spcAft>
              <a:defRPr sz="1000" b="1">
                <a:solidFill>
                  <a:srgbClr val="C51C2C"/>
                </a:solidFill>
                <a:latin typeface="Aptos"/>
              </a:defRPr>
            </a:pPr>
            <a:r>
              <a:rPr b="0">
                <a:solidFill>
                  <a:srgbClr val="F8F7F5"/>
                </a:solidFill>
                <a:latin typeface="Lato"/>
              </a:rPr>
              <a:t>01</a:t>
            </a:r>
          </a:p>
        </p:txBody>
      </p:sp>
      <p:sp>
        <p:nvSpPr>
          <p:cNvPr id="7" name="Rounded Rectangle 6"/>
          <p:cNvSpPr/>
          <p:nvPr/>
        </p:nvSpPr>
        <p:spPr>
          <a:xfrm>
            <a:off x="794960" y="962956"/>
            <a:ext cx="10688202" cy="5254964"/>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051560"/>
            <a:ext cx="118872" cy="5166360"/>
          </a:xfrm>
          <a:prstGeom prst="rect">
            <a:avLst/>
          </a:prstGeom>
          <a:solidFill>
            <a:srgbClr val="E5091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389888"/>
            <a:ext cx="7223760" cy="594360"/>
          </a:xfrm>
          <a:prstGeom prst="rect">
            <a:avLst/>
          </a:prstGeom>
          <a:noFill/>
          <a:ln/>
        </p:spPr>
        <p:txBody>
          <a:bodyPr wrap="square" lIns="0" tIns="0" rIns="0" bIns="0">
            <a:spAutoFit/>
          </a:bodyPr>
          <a:lstStyle/>
          <a:p>
            <a:pPr>
              <a:spcAft>
                <a:spcPts val="300"/>
              </a:spcAft>
              <a:defRPr sz="3300" b="1">
                <a:solidFill>
                  <a:srgbClr val="252127"/>
                </a:solidFill>
                <a:latin typeface="Aptos"/>
              </a:defRPr>
            </a:pPr>
            <a:r>
              <a:rPr sz="4600" b="1">
                <a:solidFill>
                  <a:srgbClr val="F8F7F5"/>
                </a:solidFill>
                <a:latin typeface="Roboto Condensed"/>
              </a:rPr>
              <a:t>INSIDE THE</a:t>
            </a:r>
          </a:p>
        </p:txBody>
      </p:sp>
      <p:sp>
        <p:nvSpPr>
          <p:cNvPr id="10" name="TextBox 9"/>
          <p:cNvSpPr txBox="1"/>
          <p:nvPr/>
        </p:nvSpPr>
        <p:spPr>
          <a:xfrm>
            <a:off x="1170432" y="2011680"/>
            <a:ext cx="7406640" cy="978408"/>
          </a:xfrm>
          <a:prstGeom prst="rect">
            <a:avLst/>
          </a:prstGeom>
          <a:noFill/>
          <a:ln/>
        </p:spPr>
        <p:txBody>
          <a:bodyPr wrap="square" lIns="0" tIns="0" rIns="0" bIns="0">
            <a:spAutoFit/>
          </a:bodyPr>
          <a:lstStyle/>
          <a:p>
            <a:pPr>
              <a:spcAft>
                <a:spcPts val="300"/>
              </a:spcAft>
              <a:defRPr sz="6000" b="1">
                <a:solidFill>
                  <a:srgbClr val="C51C2C"/>
                </a:solidFill>
                <a:latin typeface="Aptos"/>
              </a:defRPr>
            </a:pPr>
            <a:r>
              <a:rPr sz="7000" b="1">
                <a:solidFill>
                  <a:srgbClr val="E50914"/>
                </a:solidFill>
                <a:latin typeface="Roboto Condensed"/>
              </a:rPr>
              <a:t>NETFLIX</a:t>
            </a:r>
          </a:p>
        </p:txBody>
      </p:sp>
      <p:sp>
        <p:nvSpPr>
          <p:cNvPr id="11" name="TextBox 10"/>
          <p:cNvSpPr txBox="1"/>
          <p:nvPr/>
        </p:nvSpPr>
        <p:spPr>
          <a:xfrm>
            <a:off x="1170432" y="2971800"/>
            <a:ext cx="7406640" cy="841248"/>
          </a:xfrm>
          <a:prstGeom prst="rect">
            <a:avLst/>
          </a:prstGeom>
          <a:noFill/>
          <a:ln/>
        </p:spPr>
        <p:txBody>
          <a:bodyPr wrap="square" lIns="0" tIns="0" rIns="0" bIns="0">
            <a:spAutoFit/>
          </a:bodyPr>
          <a:lstStyle/>
          <a:p>
            <a:pPr>
              <a:spcAft>
                <a:spcPts val="300"/>
              </a:spcAft>
              <a:defRPr sz="5100" b="1">
                <a:solidFill>
                  <a:srgbClr val="252127"/>
                </a:solidFill>
                <a:latin typeface="Aptos"/>
              </a:defRPr>
            </a:pPr>
            <a:r>
              <a:rPr sz="7000" b="1">
                <a:solidFill>
                  <a:srgbClr val="F8F7F5"/>
                </a:solidFill>
                <a:latin typeface="Roboto Condensed"/>
              </a:rPr>
              <a:t>CATALOG</a:t>
            </a:r>
          </a:p>
        </p:txBody>
      </p:sp>
      <p:sp>
        <p:nvSpPr>
          <p:cNvPr id="12" name="TextBox 11"/>
          <p:cNvSpPr txBox="1"/>
          <p:nvPr/>
        </p:nvSpPr>
        <p:spPr>
          <a:xfrm>
            <a:off x="1197864" y="3995928"/>
            <a:ext cx="8046720" cy="868680"/>
          </a:xfrm>
          <a:prstGeom prst="rect">
            <a:avLst/>
          </a:prstGeom>
          <a:noFill/>
          <a:ln/>
        </p:spPr>
        <p:txBody>
          <a:bodyPr wrap="square" lIns="0" tIns="0" rIns="0" bIns="0">
            <a:spAutoFit/>
          </a:bodyPr>
          <a:lstStyle/>
          <a:p>
            <a:pPr>
              <a:spcAft>
                <a:spcPts val="300"/>
              </a:spcAft>
              <a:defRPr sz="1900" b="0">
                <a:solidFill>
                  <a:srgbClr val="695F5C"/>
                </a:solidFill>
                <a:latin typeface="Aptos"/>
              </a:defRPr>
            </a:pPr>
            <a:r>
              <a:rPr b="0">
                <a:solidFill>
                  <a:srgbClr val="F8F7F5"/>
                </a:solidFill>
                <a:latin typeface="Lato"/>
              </a:rPr>
              <a:t>A data-driven look at content types, categories,</a:t>
            </a:r>
          </a:p>
          <a:p>
            <a:pPr>
              <a:spcAft>
                <a:spcPts val="300"/>
              </a:spcAft>
              <a:defRPr sz="1900" b="0">
                <a:solidFill>
                  <a:srgbClr val="695F5C"/>
                </a:solidFill>
                <a:latin typeface="Aptos"/>
              </a:defRPr>
            </a:pPr>
            <a:r>
              <a:rPr b="0">
                <a:solidFill>
                  <a:srgbClr val="F8F7F5"/>
                </a:solidFill>
                <a:latin typeface="Lato"/>
              </a:rPr>
              <a:t>countries, and movie durations</a:t>
            </a:r>
          </a:p>
        </p:txBody>
      </p:sp>
      <p:sp>
        <p:nvSpPr>
          <p:cNvPr id="13" name="Rounded Rectangle 12"/>
          <p:cNvSpPr/>
          <p:nvPr/>
        </p:nvSpPr>
        <p:spPr>
          <a:xfrm>
            <a:off x="1188720" y="5257800"/>
            <a:ext cx="1828800" cy="438912"/>
          </a:xfrm>
          <a:prstGeom prst="roundRect">
            <a:avLst>
              <a:gd name="adj" fmla="val 12000"/>
            </a:avLst>
          </a:prstGeom>
          <a:solidFill>
            <a:srgbClr val="25252E"/>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07308" y="5384965"/>
            <a:ext cx="1609344" cy="215444"/>
          </a:xfrm>
          <a:prstGeom prst="rect">
            <a:avLst/>
          </a:prstGeom>
          <a:noFill/>
          <a:ln/>
        </p:spPr>
        <p:txBody>
          <a:bodyPr wrap="square" lIns="0" tIns="0" rIns="0" bIns="0" anchor="t">
            <a:spAutoFit/>
          </a:bodyPr>
          <a:lstStyle/>
          <a:p>
            <a:pPr>
              <a:spcAft>
                <a:spcPts val="300"/>
              </a:spcAft>
              <a:defRPr sz="1200" b="1">
                <a:solidFill>
                  <a:srgbClr val="C51C2C"/>
                </a:solidFill>
                <a:latin typeface="Aptos"/>
              </a:defRPr>
            </a:pPr>
            <a:r>
              <a:rPr sz="1400" b="1">
                <a:solidFill>
                  <a:srgbClr val="F8F7F5"/>
                </a:solidFill>
                <a:latin typeface="Seaford"/>
              </a:rPr>
              <a:t>8,807 TITLES</a:t>
            </a:r>
            <a:endParaRPr lang="en-US" sz="1400" b="1">
              <a:solidFill>
                <a:srgbClr val="F8F7F5"/>
              </a:solidFill>
              <a:latin typeface="Seaford"/>
              <a:ea typeface="Roboto Condensed"/>
              <a:cs typeface="Roboto Condensed"/>
            </a:endParaRPr>
          </a:p>
        </p:txBody>
      </p:sp>
      <p:sp>
        <p:nvSpPr>
          <p:cNvPr id="15" name="Rounded Rectangle 14"/>
          <p:cNvSpPr/>
          <p:nvPr/>
        </p:nvSpPr>
        <p:spPr>
          <a:xfrm>
            <a:off x="3200400" y="5257800"/>
            <a:ext cx="2148840" cy="438912"/>
          </a:xfrm>
          <a:prstGeom prst="roundRect">
            <a:avLst>
              <a:gd name="adj" fmla="val 12000"/>
            </a:avLst>
          </a:prstGeom>
          <a:solidFill>
            <a:srgbClr val="25252E"/>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18988" y="5384965"/>
            <a:ext cx="1929384" cy="184666"/>
          </a:xfrm>
          <a:prstGeom prst="rect">
            <a:avLst/>
          </a:prstGeom>
          <a:noFill/>
          <a:ln/>
        </p:spPr>
        <p:txBody>
          <a:bodyPr wrap="square" lIns="0" tIns="0" rIns="0" bIns="0" anchor="t">
            <a:spAutoFit/>
          </a:bodyPr>
          <a:lstStyle/>
          <a:p>
            <a:pPr>
              <a:spcAft>
                <a:spcPts val="300"/>
              </a:spcAft>
              <a:defRPr sz="1200" b="1">
                <a:solidFill>
                  <a:srgbClr val="252127"/>
                </a:solidFill>
                <a:latin typeface="Aptos"/>
              </a:defRPr>
            </a:pPr>
            <a:r>
              <a:rPr b="1">
                <a:solidFill>
                  <a:srgbClr val="F8F7F5"/>
                </a:solidFill>
                <a:latin typeface="Seaford"/>
              </a:rPr>
              <a:t>4 VISUALIZATIONS</a:t>
            </a:r>
            <a:endParaRPr lang="en-US" b="1">
              <a:solidFill>
                <a:srgbClr val="F8F7F5"/>
              </a:solidFill>
              <a:latin typeface="Seaford"/>
            </a:endParaRPr>
          </a:p>
        </p:txBody>
      </p:sp>
      <p:sp>
        <p:nvSpPr>
          <p:cNvPr id="17" name="TextBox 16"/>
          <p:cNvSpPr txBox="1"/>
          <p:nvPr/>
        </p:nvSpPr>
        <p:spPr>
          <a:xfrm>
            <a:off x="1197864" y="5788152"/>
            <a:ext cx="7955279" cy="292608"/>
          </a:xfrm>
          <a:prstGeom prst="rect">
            <a:avLst/>
          </a:prstGeom>
          <a:noFill/>
          <a:ln/>
        </p:spPr>
        <p:txBody>
          <a:bodyPr wrap="square" lIns="0" tIns="0" rIns="0" bIns="0">
            <a:spAutoFit/>
          </a:bodyPr>
          <a:lstStyle/>
          <a:p>
            <a:pPr>
              <a:spcAft>
                <a:spcPts val="300"/>
              </a:spcAft>
              <a:defRPr sz="1200" b="0">
                <a:solidFill>
                  <a:srgbClr val="695F5C"/>
                </a:solidFill>
                <a:latin typeface="Aptos"/>
              </a:defRPr>
            </a:pPr>
            <a:r>
              <a:rPr b="0">
                <a:solidFill>
                  <a:srgbClr val="F8F7F5"/>
                </a:solidFill>
                <a:latin typeface="Lato"/>
              </a:rPr>
              <a:t>Rameen Irfan   |   DATA 110   |   October 28, 2026</a:t>
            </a:r>
          </a:p>
        </p:txBody>
      </p:sp>
      <p:sp>
        <p:nvSpPr>
          <p:cNvPr id="18" name="Rounded Rectangle 17"/>
          <p:cNvSpPr/>
          <p:nvPr/>
        </p:nvSpPr>
        <p:spPr>
          <a:xfrm>
            <a:off x="9461204" y="1982262"/>
            <a:ext cx="1282996" cy="1442839"/>
          </a:xfrm>
          <a:prstGeom prst="roundRect">
            <a:avLst>
              <a:gd name="adj" fmla="val 12000"/>
            </a:avLst>
          </a:prstGeom>
          <a:solidFill>
            <a:srgbClr val="25252E"/>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46920" y="2139696"/>
            <a:ext cx="914400" cy="868680"/>
          </a:xfrm>
          <a:prstGeom prst="rect">
            <a:avLst/>
          </a:prstGeom>
          <a:noFill/>
          <a:ln/>
        </p:spPr>
        <p:txBody>
          <a:bodyPr wrap="square" lIns="0" tIns="0" rIns="0" bIns="0">
            <a:spAutoFit/>
          </a:bodyPr>
          <a:lstStyle/>
          <a:p>
            <a:pPr algn="ctr">
              <a:spcAft>
                <a:spcPts val="300"/>
              </a:spcAft>
              <a:defRPr sz="6600" b="1">
                <a:solidFill>
                  <a:srgbClr val="FFFFFF"/>
                </a:solidFill>
                <a:latin typeface="Aptos"/>
              </a:defRPr>
            </a:pPr>
            <a:r>
              <a:rPr b="1">
                <a:solidFill>
                  <a:srgbClr val="E50914"/>
                </a:solidFill>
                <a:latin typeface="Roboto Condensed"/>
              </a:rPr>
              <a:t>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0C10"/>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E5091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38560" y="6409944"/>
            <a:ext cx="329184" cy="237744"/>
          </a:xfrm>
          <a:prstGeom prst="rect">
            <a:avLst/>
          </a:prstGeom>
          <a:noFill/>
          <a:ln/>
        </p:spPr>
        <p:txBody>
          <a:bodyPr wrap="square" lIns="0" tIns="0" rIns="0" bIns="0">
            <a:spAutoFit/>
          </a:bodyPr>
          <a:lstStyle/>
          <a:p>
            <a:pPr algn="r">
              <a:spcAft>
                <a:spcPts val="300"/>
              </a:spcAft>
              <a:defRPr sz="1000" b="1">
                <a:solidFill>
                  <a:srgbClr val="C51C2C"/>
                </a:solidFill>
                <a:latin typeface="Aptos"/>
              </a:defRPr>
            </a:pPr>
            <a:r>
              <a:rPr b="0">
                <a:solidFill>
                  <a:srgbClr val="9FA1AC"/>
                </a:solidFill>
                <a:latin typeface="Lato"/>
              </a:rPr>
              <a:t>02</a:t>
            </a:r>
          </a:p>
        </p:txBody>
      </p:sp>
      <p:sp>
        <p:nvSpPr>
          <p:cNvPr id="7" name="TextBox 6"/>
          <p:cNvSpPr txBox="1"/>
          <p:nvPr/>
        </p:nvSpPr>
        <p:spPr>
          <a:xfrm>
            <a:off x="658368" y="729748"/>
            <a:ext cx="10881360" cy="603504"/>
          </a:xfrm>
          <a:prstGeom prst="rect">
            <a:avLst/>
          </a:prstGeom>
          <a:noFill/>
          <a:ln/>
        </p:spPr>
        <p:txBody>
          <a:bodyPr wrap="square" lIns="0" tIns="0" rIns="0" bIns="0">
            <a:spAutoFit/>
          </a:bodyPr>
          <a:lstStyle/>
          <a:p>
            <a:pPr>
              <a:spcAft>
                <a:spcPts val="300"/>
              </a:spcAft>
              <a:defRPr sz="3200" b="1">
                <a:solidFill>
                  <a:srgbClr val="252127"/>
                </a:solidFill>
                <a:latin typeface="Aptos"/>
              </a:defRPr>
            </a:pPr>
            <a:r>
              <a:rPr sz="3800" b="1">
                <a:solidFill>
                  <a:srgbClr val="F8F7F5"/>
                </a:solidFill>
                <a:latin typeface="Roboto Condensed"/>
              </a:rPr>
              <a:t>Why Netflix?</a:t>
            </a:r>
          </a:p>
        </p:txBody>
      </p:sp>
      <p:sp>
        <p:nvSpPr>
          <p:cNvPr id="8" name="TextBox 7"/>
          <p:cNvSpPr txBox="1"/>
          <p:nvPr/>
        </p:nvSpPr>
        <p:spPr>
          <a:xfrm>
            <a:off x="659219" y="1461553"/>
            <a:ext cx="10607040" cy="984885"/>
          </a:xfrm>
          <a:prstGeom prst="rect">
            <a:avLst/>
          </a:prstGeom>
          <a:noFill/>
          <a:ln/>
        </p:spPr>
        <p:txBody>
          <a:bodyPr wrap="square" lIns="0" tIns="0" rIns="0" bIns="0" anchor="t">
            <a:spAutoFit/>
          </a:bodyPr>
          <a:lstStyle/>
          <a:p>
            <a:pPr>
              <a:defRPr sz="1600" b="0">
                <a:solidFill>
                  <a:srgbClr val="695F5C"/>
                </a:solidFill>
                <a:latin typeface="Aptos"/>
              </a:defRPr>
            </a:pPr>
            <a:r>
              <a:rPr lang="en-US" dirty="0">
                <a:solidFill>
                  <a:srgbClr val="C5C5CE"/>
                </a:solidFill>
                <a:latin typeface="Seaford"/>
                <a:ea typeface="+mn-lt"/>
                <a:cs typeface="+mn-lt"/>
              </a:rPr>
              <a:t>I chose the Netflix dataset because it's a platform I'm familiar with, and I was curious to explore its content through data. I wanted to see which genres of shows and movies are most common, which countries have the most titles, and how movie lengths vary. The dataset also gave me the opportunity to explore different patterns through visualizations.</a:t>
            </a:r>
            <a:endParaRPr lang="en-US">
              <a:latin typeface="Seaford"/>
            </a:endParaRPr>
          </a:p>
          <a:p>
            <a:pPr>
              <a:spcAft>
                <a:spcPts val="300"/>
              </a:spcAft>
              <a:defRPr sz="1600" b="0">
                <a:solidFill>
                  <a:srgbClr val="695F5C"/>
                </a:solidFill>
                <a:latin typeface="Aptos"/>
              </a:defRPr>
            </a:pPr>
            <a:endParaRPr lang="en-US" dirty="0">
              <a:solidFill>
                <a:srgbClr val="C5C5CE"/>
              </a:solidFill>
              <a:latin typeface="Seaford"/>
              <a:ea typeface="Lato"/>
              <a:cs typeface="Lato"/>
            </a:endParaRPr>
          </a:p>
        </p:txBody>
      </p:sp>
      <p:sp>
        <p:nvSpPr>
          <p:cNvPr id="9" name="Rounded Rectangle 8"/>
          <p:cNvSpPr/>
          <p:nvPr/>
        </p:nvSpPr>
        <p:spPr>
          <a:xfrm>
            <a:off x="662054" y="2553232"/>
            <a:ext cx="6583680" cy="3493008"/>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2733" y="3034319"/>
            <a:ext cx="6035040" cy="246221"/>
          </a:xfrm>
          <a:prstGeom prst="rect">
            <a:avLst/>
          </a:prstGeom>
          <a:noFill/>
          <a:ln/>
        </p:spPr>
        <p:txBody>
          <a:bodyPr wrap="square" lIns="0" tIns="0" rIns="0" bIns="0" anchor="t">
            <a:spAutoFit/>
          </a:bodyPr>
          <a:lstStyle/>
          <a:p>
            <a:pPr>
              <a:spcAft>
                <a:spcPts val="300"/>
              </a:spcAft>
              <a:defRPr sz="1300" b="1">
                <a:solidFill>
                  <a:srgbClr val="C51C2C"/>
                </a:solidFill>
                <a:latin typeface="Aptos"/>
              </a:defRPr>
            </a:pPr>
            <a:r>
              <a:rPr lang="en-US" sz="1600" b="1">
                <a:solidFill>
                  <a:srgbClr val="E50914"/>
                </a:solidFill>
                <a:latin typeface="Roboto Condensed"/>
              </a:rPr>
              <a:t>WHAT I WANTED TO EXPLORE:</a:t>
            </a:r>
            <a:endParaRPr lang="en-US" sz="1600" b="1">
              <a:solidFill>
                <a:srgbClr val="E50914"/>
              </a:solidFill>
              <a:latin typeface="Roboto Condensed"/>
              <a:ea typeface="Roboto Condensed"/>
              <a:cs typeface="Roboto Condensed"/>
            </a:endParaRPr>
          </a:p>
        </p:txBody>
      </p:sp>
      <p:sp>
        <p:nvSpPr>
          <p:cNvPr id="11" name="TextBox 10"/>
          <p:cNvSpPr txBox="1"/>
          <p:nvPr/>
        </p:nvSpPr>
        <p:spPr>
          <a:xfrm>
            <a:off x="1112733" y="3535964"/>
            <a:ext cx="5925312" cy="2339102"/>
          </a:xfrm>
          <a:prstGeom prst="rect">
            <a:avLst/>
          </a:prstGeom>
          <a:noFill/>
          <a:ln/>
        </p:spPr>
        <p:txBody>
          <a:bodyPr wrap="square" lIns="0" tIns="0" rIns="0" bIns="0" anchor="t">
            <a:spAutoFit/>
          </a:bodyPr>
          <a:lstStyle/>
          <a:p>
            <a:pPr>
              <a:defRPr sz="1900" b="0">
                <a:solidFill>
                  <a:srgbClr val="252127"/>
                </a:solidFill>
                <a:latin typeface="Aptos"/>
              </a:defRPr>
            </a:pPr>
            <a:r>
              <a:rPr lang="en-US">
                <a:solidFill>
                  <a:srgbClr val="F8F7F5"/>
                </a:solidFill>
                <a:latin typeface="Seaford"/>
                <a:ea typeface="+mn-lt"/>
                <a:cs typeface="+mn-lt"/>
              </a:rPr>
              <a:t>For this project, I focused on four main questions:</a:t>
            </a:r>
            <a:endParaRPr lang="en-US">
              <a:latin typeface="Seaford"/>
            </a:endParaRPr>
          </a:p>
          <a:p>
            <a:pPr marL="285750" indent="-285750">
              <a:buFont typeface="Arial"/>
              <a:buChar char="•"/>
              <a:defRPr sz="1900" b="0">
                <a:solidFill>
                  <a:srgbClr val="252127"/>
                </a:solidFill>
                <a:latin typeface="Aptos"/>
              </a:defRPr>
            </a:pPr>
            <a:r>
              <a:rPr lang="en-US">
                <a:solidFill>
                  <a:srgbClr val="F8F7F5"/>
                </a:solidFill>
                <a:latin typeface="Seaford"/>
                <a:ea typeface="+mn-lt"/>
                <a:cs typeface="+mn-lt"/>
              </a:rPr>
              <a:t>Does Netflix have more movies or TV shows?</a:t>
            </a:r>
            <a:endParaRPr lang="en-US">
              <a:latin typeface="Seaford"/>
            </a:endParaRPr>
          </a:p>
          <a:p>
            <a:pPr marL="285750" indent="-285750">
              <a:buFont typeface="Arial"/>
              <a:buChar char="•"/>
              <a:defRPr sz="1900" b="0">
                <a:solidFill>
                  <a:srgbClr val="252127"/>
                </a:solidFill>
                <a:latin typeface="Aptos"/>
              </a:defRPr>
            </a:pPr>
            <a:r>
              <a:rPr lang="en-US">
                <a:solidFill>
                  <a:srgbClr val="F8F7F5"/>
                </a:solidFill>
                <a:latin typeface="Seaford"/>
                <a:ea typeface="+mn-lt"/>
                <a:cs typeface="+mn-lt"/>
              </a:rPr>
              <a:t>What are the most common categories on Netflix?</a:t>
            </a:r>
            <a:endParaRPr lang="en-US">
              <a:latin typeface="Seaford"/>
            </a:endParaRPr>
          </a:p>
          <a:p>
            <a:pPr marL="285750" indent="-285750">
              <a:buFont typeface="Arial"/>
              <a:buChar char="•"/>
              <a:defRPr sz="1900" b="0">
                <a:solidFill>
                  <a:srgbClr val="252127"/>
                </a:solidFill>
                <a:latin typeface="Aptos"/>
              </a:defRPr>
            </a:pPr>
            <a:r>
              <a:rPr lang="en-US">
                <a:solidFill>
                  <a:srgbClr val="F8F7F5"/>
                </a:solidFill>
                <a:latin typeface="Seaford"/>
                <a:ea typeface="+mn-lt"/>
                <a:cs typeface="+mn-lt"/>
              </a:rPr>
              <a:t>Which countries have the most titles represented on Netflix?</a:t>
            </a:r>
            <a:endParaRPr lang="en-US">
              <a:latin typeface="Seaford"/>
            </a:endParaRPr>
          </a:p>
          <a:p>
            <a:pPr marL="285750" indent="-285750">
              <a:buFont typeface="Arial"/>
              <a:buChar char="•"/>
              <a:defRPr sz="1900" b="0">
                <a:solidFill>
                  <a:srgbClr val="252127"/>
                </a:solidFill>
                <a:latin typeface="Aptos"/>
              </a:defRPr>
            </a:pPr>
            <a:r>
              <a:rPr lang="en-US">
                <a:solidFill>
                  <a:srgbClr val="F8F7F5"/>
                </a:solidFill>
                <a:latin typeface="Seaford"/>
                <a:ea typeface="+mn-lt"/>
                <a:cs typeface="+mn-lt"/>
              </a:rPr>
              <a:t>What is the most common movie duration on Netflix?</a:t>
            </a:r>
            <a:endParaRPr lang="en-US">
              <a:latin typeface="Seaford"/>
            </a:endParaRPr>
          </a:p>
          <a:p>
            <a:pPr>
              <a:spcAft>
                <a:spcPts val="300"/>
              </a:spcAft>
              <a:defRPr sz="1900" b="0">
                <a:solidFill>
                  <a:srgbClr val="252127"/>
                </a:solidFill>
                <a:latin typeface="Aptos"/>
              </a:defRPr>
            </a:pPr>
            <a:endParaRPr lang="en-US" b="0" dirty="0">
              <a:solidFill>
                <a:srgbClr val="F8F7F5"/>
              </a:solidFill>
              <a:latin typeface="Seaford"/>
              <a:ea typeface="Lato"/>
              <a:cs typeface="Lato"/>
            </a:endParaRPr>
          </a:p>
        </p:txBody>
      </p:sp>
      <p:sp>
        <p:nvSpPr>
          <p:cNvPr id="12" name="Rounded Rectangle 11"/>
          <p:cNvSpPr/>
          <p:nvPr/>
        </p:nvSpPr>
        <p:spPr>
          <a:xfrm>
            <a:off x="7662956" y="2553232"/>
            <a:ext cx="3749039" cy="3493008"/>
          </a:xfrm>
          <a:prstGeom prst="roundRect">
            <a:avLst>
              <a:gd name="adj" fmla="val 12000"/>
            </a:avLst>
          </a:prstGeom>
          <a:solidFill>
            <a:srgbClr val="25252E"/>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28148" y="2885818"/>
            <a:ext cx="2926080" cy="777240"/>
          </a:xfrm>
          <a:prstGeom prst="rect">
            <a:avLst/>
          </a:prstGeom>
          <a:noFill/>
          <a:ln/>
        </p:spPr>
        <p:txBody>
          <a:bodyPr wrap="square" lIns="0" tIns="0" rIns="0" bIns="0">
            <a:spAutoFit/>
          </a:bodyPr>
          <a:lstStyle/>
          <a:p>
            <a:pPr>
              <a:spcAft>
                <a:spcPts val="300"/>
              </a:spcAft>
              <a:defRPr sz="4700" b="1">
                <a:solidFill>
                  <a:srgbClr val="C51C2C"/>
                </a:solidFill>
                <a:latin typeface="Aptos"/>
              </a:defRPr>
            </a:pPr>
            <a:r>
              <a:rPr b="0">
                <a:solidFill>
                  <a:srgbClr val="E50914"/>
                </a:solidFill>
                <a:latin typeface="Lato"/>
              </a:rPr>
              <a:t>8,807</a:t>
            </a:r>
          </a:p>
        </p:txBody>
      </p:sp>
      <p:sp>
        <p:nvSpPr>
          <p:cNvPr id="14" name="TextBox 13"/>
          <p:cNvSpPr txBox="1"/>
          <p:nvPr/>
        </p:nvSpPr>
        <p:spPr>
          <a:xfrm>
            <a:off x="8028431" y="3712463"/>
            <a:ext cx="3017520" cy="320040"/>
          </a:xfrm>
          <a:prstGeom prst="rect">
            <a:avLst/>
          </a:prstGeom>
          <a:noFill/>
          <a:ln/>
        </p:spPr>
        <p:txBody>
          <a:bodyPr wrap="square" lIns="0" tIns="0" rIns="0" bIns="0">
            <a:spAutoFit/>
          </a:bodyPr>
          <a:lstStyle/>
          <a:p>
            <a:pPr>
              <a:spcAft>
                <a:spcPts val="300"/>
              </a:spcAft>
              <a:defRPr sz="1400" b="1">
                <a:solidFill>
                  <a:srgbClr val="252127"/>
                </a:solidFill>
                <a:latin typeface="Aptos"/>
              </a:defRPr>
            </a:pPr>
            <a:r>
              <a:rPr b="1">
                <a:solidFill>
                  <a:srgbClr val="F8F7F5"/>
                </a:solidFill>
                <a:latin typeface="Roboto Condensed"/>
              </a:rPr>
              <a:t>MOVIES + TV SHOWS</a:t>
            </a:r>
          </a:p>
        </p:txBody>
      </p:sp>
      <p:sp>
        <p:nvSpPr>
          <p:cNvPr id="15" name="TextBox 14"/>
          <p:cNvSpPr txBox="1"/>
          <p:nvPr/>
        </p:nvSpPr>
        <p:spPr>
          <a:xfrm>
            <a:off x="8028431" y="4498848"/>
            <a:ext cx="2944368" cy="777136"/>
          </a:xfrm>
          <a:prstGeom prst="rect">
            <a:avLst/>
          </a:prstGeom>
          <a:noFill/>
          <a:ln/>
        </p:spPr>
        <p:txBody>
          <a:bodyPr wrap="square" lIns="0" tIns="0" rIns="0" bIns="0" anchor="t">
            <a:spAutoFit/>
          </a:bodyPr>
          <a:lstStyle/>
          <a:p>
            <a:pPr>
              <a:spcAft>
                <a:spcPts val="300"/>
              </a:spcAft>
              <a:defRPr sz="1600" b="0">
                <a:solidFill>
                  <a:srgbClr val="695F5C"/>
                </a:solidFill>
                <a:latin typeface="Aptos"/>
              </a:defRPr>
            </a:pPr>
            <a:r>
              <a:rPr b="0">
                <a:solidFill>
                  <a:srgbClr val="F8F7F5"/>
                </a:solidFill>
                <a:latin typeface="Lato"/>
              </a:rPr>
              <a:t>12 columns  •  Kaggle CSV</a:t>
            </a:r>
          </a:p>
          <a:p>
            <a:pPr>
              <a:spcAft>
                <a:spcPts val="300"/>
              </a:spcAft>
              <a:defRPr sz="1600" b="0">
                <a:solidFill>
                  <a:srgbClr val="695F5C"/>
                </a:solidFill>
                <a:latin typeface="Aptos"/>
              </a:defRPr>
            </a:pPr>
            <a:r>
              <a:rPr lang="en-US">
                <a:solidFill>
                  <a:srgbClr val="F8F7F5"/>
                </a:solidFill>
                <a:latin typeface="Lato"/>
              </a:rPr>
              <a:t>Catalog through</a:t>
            </a:r>
            <a:r>
              <a:rPr b="0">
                <a:solidFill>
                  <a:srgbClr val="F8F7F5"/>
                </a:solidFill>
                <a:latin typeface="Lato"/>
              </a:rPr>
              <a:t> September 2021</a:t>
            </a:r>
            <a:endParaRPr b="0">
              <a:solidFill>
                <a:srgbClr val="F8F7F5"/>
              </a:solidFill>
              <a:latin typeface="Lato"/>
              <a:ea typeface="Lato"/>
              <a:cs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0C10"/>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E5091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30936" y="6437376"/>
            <a:ext cx="8229600" cy="228600"/>
          </a:xfrm>
          <a:prstGeom prst="rect">
            <a:avLst/>
          </a:prstGeom>
          <a:noFill/>
          <a:ln/>
        </p:spPr>
        <p:txBody>
          <a:bodyPr wrap="square" lIns="0" tIns="0" rIns="0" bIns="0">
            <a:spAutoFit/>
          </a:bodyPr>
          <a:lstStyle/>
          <a:p>
            <a:pPr>
              <a:spcAft>
                <a:spcPts val="300"/>
              </a:spcAft>
              <a:defRPr sz="900" b="1">
                <a:solidFill>
                  <a:srgbClr val="695F5C"/>
                </a:solidFill>
                <a:latin typeface="Aptos"/>
              </a:defRPr>
            </a:pPr>
            <a:r>
              <a:rPr b="1">
                <a:solidFill>
                  <a:srgbClr val="9FA1AC"/>
                </a:solidFill>
                <a:latin typeface="Roboto Condensed"/>
              </a:rPr>
              <a:t>EXPLORATORY DATA ANALYSIS</a:t>
            </a:r>
          </a:p>
        </p:txBody>
      </p:sp>
      <p:sp>
        <p:nvSpPr>
          <p:cNvPr id="6" name="TextBox 5"/>
          <p:cNvSpPr txBox="1"/>
          <p:nvPr/>
        </p:nvSpPr>
        <p:spPr>
          <a:xfrm>
            <a:off x="11338560" y="6409944"/>
            <a:ext cx="329184" cy="237744"/>
          </a:xfrm>
          <a:prstGeom prst="rect">
            <a:avLst/>
          </a:prstGeom>
          <a:noFill/>
          <a:ln/>
        </p:spPr>
        <p:txBody>
          <a:bodyPr wrap="square" lIns="0" tIns="0" rIns="0" bIns="0">
            <a:spAutoFit/>
          </a:bodyPr>
          <a:lstStyle/>
          <a:p>
            <a:pPr algn="r">
              <a:spcAft>
                <a:spcPts val="300"/>
              </a:spcAft>
              <a:defRPr sz="1000" b="1">
                <a:solidFill>
                  <a:srgbClr val="C51C2C"/>
                </a:solidFill>
                <a:latin typeface="Aptos"/>
              </a:defRPr>
            </a:pPr>
            <a:r>
              <a:rPr b="0">
                <a:solidFill>
                  <a:srgbClr val="9FA1AC"/>
                </a:solidFill>
                <a:latin typeface="Lato"/>
              </a:rPr>
              <a:t>04</a:t>
            </a:r>
          </a:p>
        </p:txBody>
      </p:sp>
      <p:sp>
        <p:nvSpPr>
          <p:cNvPr id="7" name="TextBox 6"/>
          <p:cNvSpPr txBox="1"/>
          <p:nvPr/>
        </p:nvSpPr>
        <p:spPr>
          <a:xfrm>
            <a:off x="658368" y="960120"/>
            <a:ext cx="10881360" cy="603504"/>
          </a:xfrm>
          <a:prstGeom prst="rect">
            <a:avLst/>
          </a:prstGeom>
          <a:noFill/>
          <a:ln/>
        </p:spPr>
        <p:txBody>
          <a:bodyPr wrap="square" lIns="0" tIns="0" rIns="0" bIns="0" anchor="t">
            <a:spAutoFit/>
          </a:bodyPr>
          <a:lstStyle/>
          <a:p>
            <a:pPr>
              <a:spcAft>
                <a:spcPts val="300"/>
              </a:spcAft>
              <a:defRPr sz="3200" b="1">
                <a:solidFill>
                  <a:srgbClr val="252127"/>
                </a:solidFill>
                <a:latin typeface="Aptos"/>
              </a:defRPr>
            </a:pPr>
            <a:r>
              <a:rPr lang="en-US" sz="3800" b="1">
                <a:solidFill>
                  <a:srgbClr val="F8F7F5"/>
                </a:solidFill>
                <a:latin typeface="Roboto Condensed"/>
              </a:rPr>
              <a:t>Getting to know</a:t>
            </a:r>
            <a:r>
              <a:rPr sz="3800" b="1" dirty="0">
                <a:solidFill>
                  <a:srgbClr val="F8F7F5"/>
                </a:solidFill>
                <a:latin typeface="Roboto Condensed"/>
              </a:rPr>
              <a:t> the data before plotting</a:t>
            </a:r>
          </a:p>
        </p:txBody>
      </p:sp>
      <p:sp>
        <p:nvSpPr>
          <p:cNvPr id="8" name="TextBox 7"/>
          <p:cNvSpPr txBox="1"/>
          <p:nvPr/>
        </p:nvSpPr>
        <p:spPr>
          <a:xfrm>
            <a:off x="685800" y="1700784"/>
            <a:ext cx="10607040" cy="246221"/>
          </a:xfrm>
          <a:prstGeom prst="rect">
            <a:avLst/>
          </a:prstGeom>
          <a:noFill/>
          <a:ln/>
        </p:spPr>
        <p:txBody>
          <a:bodyPr wrap="square" lIns="0" tIns="0" rIns="0" bIns="0" anchor="t">
            <a:spAutoFit/>
          </a:bodyPr>
          <a:lstStyle/>
          <a:p>
            <a:pPr>
              <a:spcAft>
                <a:spcPts val="300"/>
              </a:spcAft>
              <a:defRPr sz="1600" b="0">
                <a:solidFill>
                  <a:srgbClr val="695F5C"/>
                </a:solidFill>
                <a:latin typeface="Aptos"/>
              </a:defRPr>
            </a:pPr>
            <a:r>
              <a:rPr b="0">
                <a:solidFill>
                  <a:srgbClr val="C5C5CE"/>
                </a:solidFill>
                <a:latin typeface="Seaford"/>
              </a:rPr>
              <a:t>Basic checks helped </a:t>
            </a:r>
            <a:r>
              <a:rPr lang="en-US">
                <a:solidFill>
                  <a:srgbClr val="C5C5CE"/>
                </a:solidFill>
                <a:latin typeface="Seaford"/>
              </a:rPr>
              <a:t>me</a:t>
            </a:r>
            <a:r>
              <a:rPr b="0">
                <a:solidFill>
                  <a:srgbClr val="C5C5CE"/>
                </a:solidFill>
                <a:latin typeface="Seaford"/>
              </a:rPr>
              <a:t> make more reliable comparisons.</a:t>
            </a:r>
            <a:endParaRPr lang="en-US" b="0">
              <a:solidFill>
                <a:srgbClr val="C5C5CE"/>
              </a:solidFill>
              <a:latin typeface="Seaford"/>
            </a:endParaRPr>
          </a:p>
        </p:txBody>
      </p:sp>
      <p:sp>
        <p:nvSpPr>
          <p:cNvPr id="9" name="Rounded Rectangle 8"/>
          <p:cNvSpPr/>
          <p:nvPr/>
        </p:nvSpPr>
        <p:spPr>
          <a:xfrm>
            <a:off x="758952" y="2404872"/>
            <a:ext cx="2651760" cy="1417320"/>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2688336"/>
            <a:ext cx="2249424" cy="585216"/>
          </a:xfrm>
          <a:prstGeom prst="rect">
            <a:avLst/>
          </a:prstGeom>
          <a:noFill/>
          <a:ln/>
        </p:spPr>
        <p:txBody>
          <a:bodyPr wrap="square" lIns="0" tIns="0" rIns="0" bIns="0">
            <a:spAutoFit/>
          </a:bodyPr>
          <a:lstStyle/>
          <a:p>
            <a:pPr>
              <a:spcAft>
                <a:spcPts val="300"/>
              </a:spcAft>
              <a:defRPr sz="3400" b="1">
                <a:solidFill>
                  <a:srgbClr val="C51C2C"/>
                </a:solidFill>
                <a:latin typeface="Aptos"/>
              </a:defRPr>
            </a:pPr>
            <a:r>
              <a:rPr b="0">
                <a:solidFill>
                  <a:srgbClr val="F8F7F5"/>
                </a:solidFill>
                <a:latin typeface="Lato"/>
              </a:rPr>
              <a:t>8,807</a:t>
            </a:r>
          </a:p>
        </p:txBody>
      </p:sp>
      <p:sp>
        <p:nvSpPr>
          <p:cNvPr id="11" name="TextBox 10"/>
          <p:cNvSpPr txBox="1"/>
          <p:nvPr/>
        </p:nvSpPr>
        <p:spPr>
          <a:xfrm>
            <a:off x="960120" y="3328416"/>
            <a:ext cx="2286000" cy="246221"/>
          </a:xfrm>
          <a:prstGeom prst="rect">
            <a:avLst/>
          </a:prstGeom>
          <a:noFill/>
          <a:ln/>
        </p:spPr>
        <p:txBody>
          <a:bodyPr wrap="square" lIns="0" tIns="0" rIns="0" bIns="0" anchor="t">
            <a:spAutoFit/>
          </a:bodyPr>
          <a:lstStyle/>
          <a:p>
            <a:pPr>
              <a:spcAft>
                <a:spcPts val="300"/>
              </a:spcAft>
              <a:defRPr sz="1200" b="0">
                <a:solidFill>
                  <a:srgbClr val="695F5C"/>
                </a:solidFill>
                <a:latin typeface="Aptos"/>
              </a:defRPr>
            </a:pPr>
            <a:r>
              <a:rPr sz="1600" b="0">
                <a:solidFill>
                  <a:srgbClr val="F8F7F5"/>
                </a:solidFill>
                <a:latin typeface="Lato"/>
              </a:rPr>
              <a:t>rows</a:t>
            </a:r>
            <a:endParaRPr lang="en-US" sz="1600" b="0">
              <a:solidFill>
                <a:srgbClr val="F8F7F5"/>
              </a:solidFill>
              <a:latin typeface="Lato"/>
              <a:ea typeface="Lato"/>
              <a:cs typeface="Lato"/>
            </a:endParaRPr>
          </a:p>
        </p:txBody>
      </p:sp>
      <p:sp>
        <p:nvSpPr>
          <p:cNvPr id="12" name="Rounded Rectangle 11"/>
          <p:cNvSpPr/>
          <p:nvPr/>
        </p:nvSpPr>
        <p:spPr>
          <a:xfrm>
            <a:off x="3611880" y="2404872"/>
            <a:ext cx="2651760" cy="1417320"/>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13048" y="2688336"/>
            <a:ext cx="2249424" cy="585216"/>
          </a:xfrm>
          <a:prstGeom prst="rect">
            <a:avLst/>
          </a:prstGeom>
          <a:noFill/>
          <a:ln/>
        </p:spPr>
        <p:txBody>
          <a:bodyPr wrap="square" lIns="0" tIns="0" rIns="0" bIns="0">
            <a:spAutoFit/>
          </a:bodyPr>
          <a:lstStyle/>
          <a:p>
            <a:pPr>
              <a:spcAft>
                <a:spcPts val="300"/>
              </a:spcAft>
              <a:defRPr sz="3400" b="1">
                <a:solidFill>
                  <a:srgbClr val="C51C2C"/>
                </a:solidFill>
                <a:latin typeface="Aptos"/>
              </a:defRPr>
            </a:pPr>
            <a:r>
              <a:rPr b="0">
                <a:solidFill>
                  <a:srgbClr val="F8F7F5"/>
                </a:solidFill>
                <a:latin typeface="Lato"/>
              </a:rPr>
              <a:t>12</a:t>
            </a:r>
          </a:p>
        </p:txBody>
      </p:sp>
      <p:sp>
        <p:nvSpPr>
          <p:cNvPr id="14" name="TextBox 13"/>
          <p:cNvSpPr txBox="1"/>
          <p:nvPr/>
        </p:nvSpPr>
        <p:spPr>
          <a:xfrm>
            <a:off x="3813048" y="3328416"/>
            <a:ext cx="2286000" cy="246221"/>
          </a:xfrm>
          <a:prstGeom prst="rect">
            <a:avLst/>
          </a:prstGeom>
          <a:noFill/>
          <a:ln/>
        </p:spPr>
        <p:txBody>
          <a:bodyPr wrap="square" lIns="0" tIns="0" rIns="0" bIns="0" anchor="t">
            <a:spAutoFit/>
          </a:bodyPr>
          <a:lstStyle/>
          <a:p>
            <a:pPr>
              <a:spcAft>
                <a:spcPts val="300"/>
              </a:spcAft>
              <a:defRPr sz="1200" b="0">
                <a:solidFill>
                  <a:srgbClr val="695F5C"/>
                </a:solidFill>
                <a:latin typeface="Aptos"/>
              </a:defRPr>
            </a:pPr>
            <a:r>
              <a:rPr sz="1600" b="0">
                <a:solidFill>
                  <a:srgbClr val="F8F7F5"/>
                </a:solidFill>
                <a:latin typeface="Lato"/>
              </a:rPr>
              <a:t>columns</a:t>
            </a:r>
            <a:endParaRPr lang="en-US" sz="1600" b="0">
              <a:solidFill>
                <a:srgbClr val="F8F7F5"/>
              </a:solidFill>
              <a:latin typeface="Lato"/>
              <a:ea typeface="Lato"/>
              <a:cs typeface="Lato"/>
            </a:endParaRPr>
          </a:p>
        </p:txBody>
      </p:sp>
      <p:sp>
        <p:nvSpPr>
          <p:cNvPr id="15" name="Rounded Rectangle 14"/>
          <p:cNvSpPr/>
          <p:nvPr/>
        </p:nvSpPr>
        <p:spPr>
          <a:xfrm>
            <a:off x="6464808" y="2404872"/>
            <a:ext cx="2651760" cy="1417320"/>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65976" y="2688336"/>
            <a:ext cx="2249424" cy="585216"/>
          </a:xfrm>
          <a:prstGeom prst="rect">
            <a:avLst/>
          </a:prstGeom>
          <a:noFill/>
          <a:ln/>
        </p:spPr>
        <p:txBody>
          <a:bodyPr wrap="square" lIns="0" tIns="0" rIns="0" bIns="0">
            <a:spAutoFit/>
          </a:bodyPr>
          <a:lstStyle/>
          <a:p>
            <a:pPr>
              <a:spcAft>
                <a:spcPts val="300"/>
              </a:spcAft>
              <a:defRPr sz="3400" b="1">
                <a:solidFill>
                  <a:srgbClr val="C51C2C"/>
                </a:solidFill>
                <a:latin typeface="Aptos"/>
              </a:defRPr>
            </a:pPr>
            <a:r>
              <a:rPr b="0">
                <a:solidFill>
                  <a:srgbClr val="F8F7F5"/>
                </a:solidFill>
                <a:latin typeface="Lato"/>
              </a:rPr>
              <a:t>0</a:t>
            </a:r>
          </a:p>
        </p:txBody>
      </p:sp>
      <p:sp>
        <p:nvSpPr>
          <p:cNvPr id="17" name="TextBox 16"/>
          <p:cNvSpPr txBox="1"/>
          <p:nvPr/>
        </p:nvSpPr>
        <p:spPr>
          <a:xfrm>
            <a:off x="6665976" y="3328416"/>
            <a:ext cx="2286000" cy="246221"/>
          </a:xfrm>
          <a:prstGeom prst="rect">
            <a:avLst/>
          </a:prstGeom>
          <a:noFill/>
          <a:ln/>
        </p:spPr>
        <p:txBody>
          <a:bodyPr wrap="square" lIns="0" tIns="0" rIns="0" bIns="0" anchor="t">
            <a:spAutoFit/>
          </a:bodyPr>
          <a:lstStyle/>
          <a:p>
            <a:pPr>
              <a:spcAft>
                <a:spcPts val="300"/>
              </a:spcAft>
              <a:defRPr sz="1200" b="0">
                <a:solidFill>
                  <a:srgbClr val="695F5C"/>
                </a:solidFill>
                <a:latin typeface="Aptos"/>
              </a:defRPr>
            </a:pPr>
            <a:r>
              <a:rPr sz="1600" b="0">
                <a:solidFill>
                  <a:srgbClr val="F8F7F5"/>
                </a:solidFill>
                <a:latin typeface="Lato"/>
              </a:rPr>
              <a:t>identical duplicate rows</a:t>
            </a:r>
            <a:endParaRPr lang="en-US" sz="1600" b="0">
              <a:solidFill>
                <a:srgbClr val="F8F7F5"/>
              </a:solidFill>
              <a:latin typeface="Lato"/>
              <a:ea typeface="Lato"/>
              <a:cs typeface="Lato"/>
            </a:endParaRPr>
          </a:p>
        </p:txBody>
      </p:sp>
      <p:sp>
        <p:nvSpPr>
          <p:cNvPr id="18" name="Rounded Rectangle 17"/>
          <p:cNvSpPr/>
          <p:nvPr/>
        </p:nvSpPr>
        <p:spPr>
          <a:xfrm>
            <a:off x="9317736" y="2404872"/>
            <a:ext cx="2651760" cy="1417320"/>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18904" y="2688336"/>
            <a:ext cx="2249424" cy="585216"/>
          </a:xfrm>
          <a:prstGeom prst="rect">
            <a:avLst/>
          </a:prstGeom>
          <a:noFill/>
          <a:ln/>
        </p:spPr>
        <p:txBody>
          <a:bodyPr wrap="square" lIns="0" tIns="0" rIns="0" bIns="0">
            <a:spAutoFit/>
          </a:bodyPr>
          <a:lstStyle/>
          <a:p>
            <a:pPr>
              <a:spcAft>
                <a:spcPts val="300"/>
              </a:spcAft>
              <a:defRPr sz="3400" b="1">
                <a:solidFill>
                  <a:srgbClr val="C51C2C"/>
                </a:solidFill>
                <a:latin typeface="Aptos"/>
              </a:defRPr>
            </a:pPr>
            <a:r>
              <a:rPr b="0">
                <a:solidFill>
                  <a:srgbClr val="F8F7F5"/>
                </a:solidFill>
                <a:latin typeface="Lato"/>
              </a:rPr>
              <a:t>831</a:t>
            </a:r>
          </a:p>
        </p:txBody>
      </p:sp>
      <p:sp>
        <p:nvSpPr>
          <p:cNvPr id="20" name="TextBox 19"/>
          <p:cNvSpPr txBox="1"/>
          <p:nvPr/>
        </p:nvSpPr>
        <p:spPr>
          <a:xfrm>
            <a:off x="9518904" y="3328416"/>
            <a:ext cx="2286000" cy="246221"/>
          </a:xfrm>
          <a:prstGeom prst="rect">
            <a:avLst/>
          </a:prstGeom>
          <a:noFill/>
          <a:ln/>
        </p:spPr>
        <p:txBody>
          <a:bodyPr wrap="square" lIns="0" tIns="0" rIns="0" bIns="0" anchor="t">
            <a:spAutoFit/>
          </a:bodyPr>
          <a:lstStyle/>
          <a:p>
            <a:pPr>
              <a:spcAft>
                <a:spcPts val="300"/>
              </a:spcAft>
              <a:defRPr sz="1200" b="0">
                <a:solidFill>
                  <a:srgbClr val="695F5C"/>
                </a:solidFill>
                <a:latin typeface="Aptos"/>
              </a:defRPr>
            </a:pPr>
            <a:r>
              <a:rPr sz="1600" b="0">
                <a:solidFill>
                  <a:srgbClr val="F8F7F5"/>
                </a:solidFill>
                <a:latin typeface="Lato"/>
              </a:rPr>
              <a:t>missing </a:t>
            </a:r>
            <a:r>
              <a:rPr sz="1600" b="1">
                <a:solidFill>
                  <a:srgbClr val="F8F7F5"/>
                </a:solidFill>
                <a:latin typeface="Lato"/>
              </a:rPr>
              <a:t>country</a:t>
            </a:r>
            <a:r>
              <a:rPr sz="1600" b="0">
                <a:solidFill>
                  <a:srgbClr val="F8F7F5"/>
                </a:solidFill>
                <a:latin typeface="Lato"/>
              </a:rPr>
              <a:t> values</a:t>
            </a:r>
            <a:endParaRPr lang="en-US" sz="1600" b="0">
              <a:solidFill>
                <a:srgbClr val="F8F7F5"/>
              </a:solidFill>
              <a:latin typeface="Lato"/>
              <a:ea typeface="Lato"/>
              <a:cs typeface="Lato"/>
            </a:endParaRPr>
          </a:p>
        </p:txBody>
      </p:sp>
      <p:sp>
        <p:nvSpPr>
          <p:cNvPr id="21" name="Rounded Rectangle 20"/>
          <p:cNvSpPr/>
          <p:nvPr/>
        </p:nvSpPr>
        <p:spPr>
          <a:xfrm>
            <a:off x="768096" y="4288536"/>
            <a:ext cx="10936224" cy="1609344"/>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24128" y="4544568"/>
            <a:ext cx="9966960" cy="246221"/>
          </a:xfrm>
          <a:prstGeom prst="rect">
            <a:avLst/>
          </a:prstGeom>
          <a:noFill/>
          <a:ln/>
        </p:spPr>
        <p:txBody>
          <a:bodyPr wrap="square" lIns="0" tIns="0" rIns="0" bIns="0" anchor="t">
            <a:spAutoFit/>
          </a:bodyPr>
          <a:lstStyle/>
          <a:p>
            <a:pPr>
              <a:spcAft>
                <a:spcPts val="300"/>
              </a:spcAft>
              <a:defRPr sz="1300" b="1">
                <a:solidFill>
                  <a:srgbClr val="C51C2C"/>
                </a:solidFill>
                <a:latin typeface="Aptos"/>
              </a:defRPr>
            </a:pPr>
            <a:r>
              <a:rPr sz="1600" b="1">
                <a:solidFill>
                  <a:srgbClr val="F8F7F5"/>
                </a:solidFill>
                <a:latin typeface="Roboto Condensed"/>
              </a:rPr>
              <a:t>HOW THE DATA WAS PREPARED</a:t>
            </a:r>
            <a:endParaRPr lang="en-US" sz="1600" b="1">
              <a:solidFill>
                <a:srgbClr val="F8F7F5"/>
              </a:solidFill>
              <a:latin typeface="Roboto Condensed"/>
              <a:ea typeface="Roboto Condensed"/>
              <a:cs typeface="Roboto Condensed"/>
            </a:endParaRPr>
          </a:p>
        </p:txBody>
      </p:sp>
      <p:sp>
        <p:nvSpPr>
          <p:cNvPr id="23" name="TextBox 22"/>
          <p:cNvSpPr txBox="1"/>
          <p:nvPr/>
        </p:nvSpPr>
        <p:spPr>
          <a:xfrm>
            <a:off x="1024128" y="4965192"/>
            <a:ext cx="10296144" cy="758952"/>
          </a:xfrm>
          <a:prstGeom prst="rect">
            <a:avLst/>
          </a:prstGeom>
          <a:noFill/>
          <a:ln/>
        </p:spPr>
        <p:txBody>
          <a:bodyPr wrap="square" lIns="0" tIns="0" rIns="0" bIns="0" anchor="t">
            <a:spAutoFit/>
          </a:bodyPr>
          <a:lstStyle/>
          <a:p>
            <a:pPr>
              <a:spcAft>
                <a:spcPts val="300"/>
              </a:spcAft>
              <a:defRPr sz="1600" b="0">
                <a:solidFill>
                  <a:srgbClr val="252127"/>
                </a:solidFill>
                <a:latin typeface="Aptos"/>
              </a:defRPr>
            </a:pPr>
            <a:r>
              <a:rPr b="0">
                <a:solidFill>
                  <a:srgbClr val="F8F7F5"/>
                </a:solidFill>
                <a:latin typeface="Seaford"/>
              </a:rPr>
              <a:t>Some titles list multiple categories or countries. I separated these values and counted each individually. Missing country entries were excluded from the country chart. For the histogram, I used only movies and converted durations from text to minutes.</a:t>
            </a:r>
            <a:endParaRPr lang="en-US" b="0">
              <a:solidFill>
                <a:srgbClr val="F8F7F5"/>
              </a:solidFill>
              <a:latin typeface="Seafor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0C10"/>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E5091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38560" y="6409944"/>
            <a:ext cx="329184" cy="237744"/>
          </a:xfrm>
          <a:prstGeom prst="rect">
            <a:avLst/>
          </a:prstGeom>
          <a:noFill/>
          <a:ln/>
        </p:spPr>
        <p:txBody>
          <a:bodyPr wrap="square" lIns="0" tIns="0" rIns="0" bIns="0">
            <a:spAutoFit/>
          </a:bodyPr>
          <a:lstStyle/>
          <a:p>
            <a:pPr algn="r">
              <a:spcAft>
                <a:spcPts val="300"/>
              </a:spcAft>
              <a:defRPr sz="1000" b="1">
                <a:solidFill>
                  <a:srgbClr val="C51C2C"/>
                </a:solidFill>
                <a:latin typeface="Aptos"/>
              </a:defRPr>
            </a:pPr>
            <a:r>
              <a:rPr b="0">
                <a:solidFill>
                  <a:srgbClr val="9FA1AC"/>
                </a:solidFill>
                <a:latin typeface="Lato"/>
              </a:rPr>
              <a:t>05</a:t>
            </a:r>
          </a:p>
        </p:txBody>
      </p:sp>
      <p:sp>
        <p:nvSpPr>
          <p:cNvPr id="7" name="TextBox 6"/>
          <p:cNvSpPr txBox="1"/>
          <p:nvPr/>
        </p:nvSpPr>
        <p:spPr>
          <a:xfrm>
            <a:off x="658368" y="960120"/>
            <a:ext cx="10881360" cy="603504"/>
          </a:xfrm>
          <a:prstGeom prst="rect">
            <a:avLst/>
          </a:prstGeom>
          <a:noFill/>
          <a:ln/>
        </p:spPr>
        <p:txBody>
          <a:bodyPr wrap="square" lIns="0" tIns="0" rIns="0" bIns="0">
            <a:spAutoFit/>
          </a:bodyPr>
          <a:lstStyle/>
          <a:p>
            <a:pPr>
              <a:spcAft>
                <a:spcPts val="300"/>
              </a:spcAft>
              <a:defRPr sz="3200" b="1">
                <a:solidFill>
                  <a:srgbClr val="252127"/>
                </a:solidFill>
                <a:latin typeface="Aptos"/>
              </a:defRPr>
            </a:pPr>
            <a:r>
              <a:rPr sz="3800" b="1">
                <a:solidFill>
                  <a:srgbClr val="F8F7F5"/>
                </a:solidFill>
                <a:latin typeface="Roboto Condensed"/>
              </a:rPr>
              <a:t>Movies or TV shows?</a:t>
            </a:r>
          </a:p>
        </p:txBody>
      </p:sp>
      <p:sp>
        <p:nvSpPr>
          <p:cNvPr id="8" name="TextBox 7"/>
          <p:cNvSpPr txBox="1"/>
          <p:nvPr/>
        </p:nvSpPr>
        <p:spPr>
          <a:xfrm>
            <a:off x="685800" y="1700784"/>
            <a:ext cx="10607040" cy="246221"/>
          </a:xfrm>
          <a:prstGeom prst="rect">
            <a:avLst/>
          </a:prstGeom>
          <a:noFill/>
          <a:ln/>
        </p:spPr>
        <p:txBody>
          <a:bodyPr wrap="square" lIns="0" tIns="0" rIns="0" bIns="0" anchor="t">
            <a:spAutoFit/>
          </a:bodyPr>
          <a:lstStyle/>
          <a:p>
            <a:pPr>
              <a:spcAft>
                <a:spcPts val="300"/>
              </a:spcAft>
              <a:defRPr sz="1600" b="0">
                <a:solidFill>
                  <a:srgbClr val="695F5C"/>
                </a:solidFill>
                <a:latin typeface="Aptos"/>
              </a:defRPr>
            </a:pPr>
            <a:r>
              <a:rPr b="0">
                <a:solidFill>
                  <a:srgbClr val="C5C5CE"/>
                </a:solidFill>
                <a:latin typeface="Seaford"/>
              </a:rPr>
              <a:t>Does Netflix have more movies or TV shows?</a:t>
            </a:r>
            <a:endParaRPr lang="en-US" b="0">
              <a:solidFill>
                <a:srgbClr val="C5C5CE"/>
              </a:solidFill>
              <a:latin typeface="Seaford"/>
            </a:endParaRPr>
          </a:p>
        </p:txBody>
      </p:sp>
      <p:sp>
        <p:nvSpPr>
          <p:cNvPr id="9" name="Rounded Rectangle 8"/>
          <p:cNvSpPr/>
          <p:nvPr/>
        </p:nvSpPr>
        <p:spPr>
          <a:xfrm>
            <a:off x="685800" y="2139696"/>
            <a:ext cx="6858000" cy="3959352"/>
          </a:xfrm>
          <a:prstGeom prst="roundRect">
            <a:avLst>
              <a:gd name="adj" fmla="val 12000"/>
            </a:avLst>
          </a:prstGeom>
          <a:solidFill>
            <a:srgbClr val="FFFFFF"/>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updated_chart_cell3_0.png"/>
          <p:cNvPicPr>
            <a:picLocks noChangeAspect="1"/>
          </p:cNvPicPr>
          <p:nvPr/>
        </p:nvPicPr>
        <p:blipFill>
          <a:blip r:embed="rId2"/>
          <a:stretch>
            <a:fillRect/>
          </a:stretch>
        </p:blipFill>
        <p:spPr>
          <a:xfrm>
            <a:off x="2327637" y="2231136"/>
            <a:ext cx="3574325" cy="3776472"/>
          </a:xfrm>
          <a:prstGeom prst="rect">
            <a:avLst/>
          </a:prstGeom>
          <a:ln/>
        </p:spPr>
      </p:pic>
      <p:sp>
        <p:nvSpPr>
          <p:cNvPr id="11" name="Rounded Rectangle 10"/>
          <p:cNvSpPr/>
          <p:nvPr/>
        </p:nvSpPr>
        <p:spPr>
          <a:xfrm>
            <a:off x="7909560" y="2450592"/>
            <a:ext cx="3611880" cy="3474720"/>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93024" y="2715768"/>
            <a:ext cx="3035808" cy="215444"/>
          </a:xfrm>
          <a:prstGeom prst="rect">
            <a:avLst/>
          </a:prstGeom>
          <a:noFill/>
          <a:ln/>
        </p:spPr>
        <p:txBody>
          <a:bodyPr wrap="square" lIns="0" tIns="0" rIns="0" bIns="0" anchor="t">
            <a:spAutoFit/>
          </a:bodyPr>
          <a:lstStyle/>
          <a:p>
            <a:pPr>
              <a:spcAft>
                <a:spcPts val="300"/>
              </a:spcAft>
              <a:defRPr sz="1100" b="1">
                <a:solidFill>
                  <a:srgbClr val="C51C2C"/>
                </a:solidFill>
                <a:latin typeface="Aptos"/>
              </a:defRPr>
            </a:pPr>
            <a:r>
              <a:rPr sz="1400" b="1">
                <a:solidFill>
                  <a:srgbClr val="E50914"/>
                </a:solidFill>
                <a:latin typeface="Seaford"/>
              </a:rPr>
              <a:t>KEY FINDING</a:t>
            </a:r>
            <a:endParaRPr lang="en-US" sz="1400" b="1">
              <a:solidFill>
                <a:srgbClr val="E50914"/>
              </a:solidFill>
              <a:latin typeface="Seaford"/>
            </a:endParaRPr>
          </a:p>
        </p:txBody>
      </p:sp>
      <p:sp>
        <p:nvSpPr>
          <p:cNvPr id="13" name="TextBox 12"/>
          <p:cNvSpPr txBox="1"/>
          <p:nvPr/>
        </p:nvSpPr>
        <p:spPr>
          <a:xfrm>
            <a:off x="8193024" y="3154680"/>
            <a:ext cx="3108960" cy="676656"/>
          </a:xfrm>
          <a:prstGeom prst="rect">
            <a:avLst/>
          </a:prstGeom>
          <a:noFill/>
          <a:ln/>
        </p:spPr>
        <p:txBody>
          <a:bodyPr wrap="square" lIns="0" tIns="0" rIns="0" bIns="0">
            <a:spAutoFit/>
          </a:bodyPr>
          <a:lstStyle/>
          <a:p>
            <a:pPr>
              <a:spcAft>
                <a:spcPts val="300"/>
              </a:spcAft>
              <a:defRPr sz="2600" b="1">
                <a:solidFill>
                  <a:srgbClr val="252127"/>
                </a:solidFill>
                <a:latin typeface="Aptos"/>
              </a:defRPr>
            </a:pPr>
            <a:r>
              <a:rPr b="0">
                <a:solidFill>
                  <a:srgbClr val="E50914"/>
                </a:solidFill>
                <a:latin typeface="Lato"/>
              </a:rPr>
              <a:t>69.6% movies</a:t>
            </a:r>
          </a:p>
        </p:txBody>
      </p:sp>
      <p:sp>
        <p:nvSpPr>
          <p:cNvPr id="14" name="Rectangle 13"/>
          <p:cNvSpPr/>
          <p:nvPr/>
        </p:nvSpPr>
        <p:spPr>
          <a:xfrm>
            <a:off x="8193024" y="3904487"/>
            <a:ext cx="621792" cy="68580"/>
          </a:xfrm>
          <a:prstGeom prst="rect">
            <a:avLst/>
          </a:prstGeom>
          <a:solidFill>
            <a:srgbClr val="E5091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93024" y="4215384"/>
            <a:ext cx="2971800" cy="1154162"/>
          </a:xfrm>
          <a:prstGeom prst="rect">
            <a:avLst/>
          </a:prstGeom>
          <a:noFill/>
          <a:ln/>
        </p:spPr>
        <p:txBody>
          <a:bodyPr wrap="square" lIns="0" tIns="0" rIns="0" bIns="0" anchor="t">
            <a:spAutoFit/>
          </a:bodyPr>
          <a:lstStyle/>
          <a:p>
            <a:pPr>
              <a:spcAft>
                <a:spcPts val="300"/>
              </a:spcAft>
              <a:defRPr sz="1500" b="0">
                <a:solidFill>
                  <a:srgbClr val="695F5C"/>
                </a:solidFill>
                <a:latin typeface="Aptos"/>
              </a:defRPr>
            </a:pPr>
            <a:r>
              <a:rPr b="0">
                <a:solidFill>
                  <a:srgbClr val="F8F7F5"/>
                </a:solidFill>
                <a:latin typeface="Seaford"/>
              </a:rPr>
              <a:t>Movies account for 6,131 titles, compared with 2,676 TV shows (30.4%). The pie chart makes the difference in proportions easy to see.</a:t>
            </a:r>
            <a:endParaRPr lang="en-US" b="0">
              <a:solidFill>
                <a:srgbClr val="F8F7F5"/>
              </a:solidFill>
              <a:latin typeface="Seaford"/>
            </a:endParaRPr>
          </a:p>
        </p:txBody>
      </p:sp>
      <p:sp>
        <p:nvSpPr>
          <p:cNvPr id="16" name="TextBox 15"/>
          <p:cNvSpPr txBox="1"/>
          <p:nvPr/>
        </p:nvSpPr>
        <p:spPr>
          <a:xfrm>
            <a:off x="687501" y="6286536"/>
            <a:ext cx="10881360" cy="246888"/>
          </a:xfrm>
          <a:prstGeom prst="rect">
            <a:avLst/>
          </a:prstGeom>
          <a:noFill/>
          <a:ln/>
        </p:spPr>
        <p:txBody>
          <a:bodyPr wrap="square" lIns="0" tIns="0" rIns="0" bIns="0">
            <a:spAutoFit/>
          </a:bodyPr>
          <a:lstStyle/>
          <a:p>
            <a:pPr>
              <a:spcAft>
                <a:spcPts val="300"/>
              </a:spcAft>
              <a:defRPr sz="1100" b="0">
                <a:solidFill>
                  <a:srgbClr val="695F5C"/>
                </a:solidFill>
                <a:latin typeface="Aptos"/>
              </a:defRPr>
            </a:pPr>
            <a:r>
              <a:rPr b="0">
                <a:solidFill>
                  <a:srgbClr val="C5C5CE"/>
                </a:solidFill>
                <a:latin typeface="Lato"/>
              </a:rPr>
              <a:t>Figure 1  •  Share of the 8,807 listed titles.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0C10"/>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E5091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38560" y="6409944"/>
            <a:ext cx="329184" cy="237744"/>
          </a:xfrm>
          <a:prstGeom prst="rect">
            <a:avLst/>
          </a:prstGeom>
          <a:noFill/>
          <a:ln/>
        </p:spPr>
        <p:txBody>
          <a:bodyPr wrap="square" lIns="0" tIns="0" rIns="0" bIns="0">
            <a:spAutoFit/>
          </a:bodyPr>
          <a:lstStyle/>
          <a:p>
            <a:pPr algn="r">
              <a:spcAft>
                <a:spcPts val="300"/>
              </a:spcAft>
              <a:defRPr sz="1000" b="1">
                <a:solidFill>
                  <a:srgbClr val="C51C2C"/>
                </a:solidFill>
                <a:latin typeface="Aptos"/>
              </a:defRPr>
            </a:pPr>
            <a:r>
              <a:rPr b="0">
                <a:solidFill>
                  <a:srgbClr val="9FA1AC"/>
                </a:solidFill>
                <a:latin typeface="Lato"/>
              </a:rPr>
              <a:t>06</a:t>
            </a:r>
          </a:p>
        </p:txBody>
      </p:sp>
      <p:sp>
        <p:nvSpPr>
          <p:cNvPr id="7" name="TextBox 6"/>
          <p:cNvSpPr txBox="1"/>
          <p:nvPr/>
        </p:nvSpPr>
        <p:spPr>
          <a:xfrm>
            <a:off x="658368" y="960120"/>
            <a:ext cx="10881360" cy="603504"/>
          </a:xfrm>
          <a:prstGeom prst="rect">
            <a:avLst/>
          </a:prstGeom>
          <a:noFill/>
          <a:ln/>
        </p:spPr>
        <p:txBody>
          <a:bodyPr wrap="square" lIns="0" tIns="0" rIns="0" bIns="0">
            <a:spAutoFit/>
          </a:bodyPr>
          <a:lstStyle/>
          <a:p>
            <a:pPr>
              <a:spcAft>
                <a:spcPts val="300"/>
              </a:spcAft>
              <a:defRPr sz="3200" b="1">
                <a:solidFill>
                  <a:srgbClr val="252127"/>
                </a:solidFill>
                <a:latin typeface="Aptos"/>
              </a:defRPr>
            </a:pPr>
            <a:r>
              <a:rPr sz="3800" b="1">
                <a:solidFill>
                  <a:srgbClr val="F8F7F5"/>
                </a:solidFill>
                <a:latin typeface="Roboto Condensed"/>
              </a:rPr>
              <a:t>Which categories lead?</a:t>
            </a:r>
          </a:p>
        </p:txBody>
      </p:sp>
      <p:sp>
        <p:nvSpPr>
          <p:cNvPr id="8" name="TextBox 7"/>
          <p:cNvSpPr txBox="1"/>
          <p:nvPr/>
        </p:nvSpPr>
        <p:spPr>
          <a:xfrm>
            <a:off x="685800" y="1700784"/>
            <a:ext cx="10607040" cy="246221"/>
          </a:xfrm>
          <a:prstGeom prst="rect">
            <a:avLst/>
          </a:prstGeom>
          <a:noFill/>
          <a:ln/>
        </p:spPr>
        <p:txBody>
          <a:bodyPr wrap="square" lIns="0" tIns="0" rIns="0" bIns="0" anchor="t">
            <a:spAutoFit/>
          </a:bodyPr>
          <a:lstStyle/>
          <a:p>
            <a:pPr>
              <a:spcAft>
                <a:spcPts val="300"/>
              </a:spcAft>
              <a:defRPr sz="1600" b="0">
                <a:solidFill>
                  <a:srgbClr val="695F5C"/>
                </a:solidFill>
                <a:latin typeface="Aptos"/>
              </a:defRPr>
            </a:pPr>
            <a:r>
              <a:rPr b="0">
                <a:solidFill>
                  <a:srgbClr val="C5C5CE"/>
                </a:solidFill>
                <a:latin typeface="Seaford"/>
              </a:rPr>
              <a:t>What are the 10 most common Netflix categories?</a:t>
            </a:r>
            <a:endParaRPr lang="en-US" b="0">
              <a:solidFill>
                <a:srgbClr val="C5C5CE"/>
              </a:solidFill>
              <a:latin typeface="Seaford"/>
            </a:endParaRPr>
          </a:p>
        </p:txBody>
      </p:sp>
      <p:sp>
        <p:nvSpPr>
          <p:cNvPr id="9" name="Rounded Rectangle 8"/>
          <p:cNvSpPr/>
          <p:nvPr/>
        </p:nvSpPr>
        <p:spPr>
          <a:xfrm>
            <a:off x="685800" y="2139696"/>
            <a:ext cx="6858000" cy="3959352"/>
          </a:xfrm>
          <a:prstGeom prst="roundRect">
            <a:avLst>
              <a:gd name="adj" fmla="val 12000"/>
            </a:avLst>
          </a:prstGeom>
          <a:solidFill>
            <a:srgbClr val="FFFFFF"/>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updated_chart_cell7_0.png"/>
          <p:cNvPicPr>
            <a:picLocks noChangeAspect="1"/>
          </p:cNvPicPr>
          <p:nvPr/>
        </p:nvPicPr>
        <p:blipFill>
          <a:blip r:embed="rId2"/>
          <a:stretch>
            <a:fillRect/>
          </a:stretch>
        </p:blipFill>
        <p:spPr>
          <a:xfrm>
            <a:off x="758952" y="2312631"/>
            <a:ext cx="6711696" cy="3613482"/>
          </a:xfrm>
          <a:prstGeom prst="rect">
            <a:avLst/>
          </a:prstGeom>
          <a:ln/>
        </p:spPr>
      </p:pic>
      <p:sp>
        <p:nvSpPr>
          <p:cNvPr id="11" name="Rounded Rectangle 10"/>
          <p:cNvSpPr/>
          <p:nvPr/>
        </p:nvSpPr>
        <p:spPr>
          <a:xfrm>
            <a:off x="7909560" y="2450592"/>
            <a:ext cx="3611880" cy="3474720"/>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93024" y="2715768"/>
            <a:ext cx="3035808" cy="384721"/>
          </a:xfrm>
          <a:prstGeom prst="rect">
            <a:avLst/>
          </a:prstGeom>
          <a:noFill/>
          <a:ln/>
        </p:spPr>
        <p:txBody>
          <a:bodyPr wrap="square" lIns="0" tIns="0" rIns="0" bIns="0" anchor="t">
            <a:spAutoFit/>
          </a:bodyPr>
          <a:lstStyle/>
          <a:p>
            <a:pPr>
              <a:defRPr sz="1100" b="1">
                <a:solidFill>
                  <a:srgbClr val="C51C2C"/>
                </a:solidFill>
                <a:latin typeface="Aptos"/>
              </a:defRPr>
            </a:pPr>
            <a:r>
              <a:rPr lang="en-US" sz="1400" b="1">
                <a:solidFill>
                  <a:srgbClr val="E50914"/>
                </a:solidFill>
                <a:latin typeface="Seaford"/>
                <a:ea typeface="Roboto Condensed"/>
                <a:cs typeface="Roboto Condensed"/>
              </a:rPr>
              <a:t>KEY FINDING</a:t>
            </a:r>
            <a:endParaRPr lang="en-US" sz="1400">
              <a:solidFill>
                <a:srgbClr val="000000"/>
              </a:solidFill>
              <a:latin typeface="Seaford"/>
              <a:ea typeface="Roboto Condensed"/>
              <a:cs typeface="Roboto Condensed"/>
            </a:endParaRPr>
          </a:p>
          <a:p>
            <a:pPr>
              <a:spcAft>
                <a:spcPts val="300"/>
              </a:spcAft>
              <a:defRPr sz="1100" b="1">
                <a:solidFill>
                  <a:srgbClr val="C51C2C"/>
                </a:solidFill>
                <a:latin typeface="Aptos"/>
              </a:defRPr>
            </a:pPr>
            <a:endParaRPr lang="en-US" b="1" dirty="0">
              <a:solidFill>
                <a:srgbClr val="E50914"/>
              </a:solidFill>
              <a:latin typeface="Roboto Condensed"/>
              <a:ea typeface="Roboto Condensed"/>
              <a:cs typeface="Roboto Condensed"/>
            </a:endParaRPr>
          </a:p>
        </p:txBody>
      </p:sp>
      <p:sp>
        <p:nvSpPr>
          <p:cNvPr id="13" name="TextBox 12"/>
          <p:cNvSpPr txBox="1"/>
          <p:nvPr/>
        </p:nvSpPr>
        <p:spPr>
          <a:xfrm>
            <a:off x="8193024" y="3030633"/>
            <a:ext cx="3108960" cy="984885"/>
          </a:xfrm>
          <a:prstGeom prst="rect">
            <a:avLst/>
          </a:prstGeom>
          <a:noFill/>
          <a:ln/>
        </p:spPr>
        <p:txBody>
          <a:bodyPr wrap="square" lIns="0" tIns="0" rIns="0" bIns="0" anchor="t">
            <a:spAutoFit/>
          </a:bodyPr>
          <a:lstStyle/>
          <a:p>
            <a:pPr>
              <a:defRPr sz="2600" b="1">
                <a:solidFill>
                  <a:srgbClr val="252127"/>
                </a:solidFill>
                <a:latin typeface="Aptos"/>
              </a:defRPr>
            </a:pPr>
            <a:r>
              <a:rPr lang="en-US" sz="1600">
                <a:solidFill>
                  <a:srgbClr val="F8F7F5"/>
                </a:solidFill>
                <a:ea typeface="+mn-lt"/>
                <a:cs typeface="+mn-lt"/>
              </a:rPr>
              <a:t>Out of the 8,807 titles in the dataset, 2,752 are categorized as International Movies</a:t>
            </a:r>
            <a:endParaRPr lang="en-US" sz="1600">
              <a:ea typeface="+mn-lt"/>
              <a:cs typeface="+mn-lt"/>
            </a:endParaRPr>
          </a:p>
          <a:p>
            <a:pPr>
              <a:spcAft>
                <a:spcPts val="300"/>
              </a:spcAft>
              <a:defRPr sz="2600" b="1">
                <a:solidFill>
                  <a:srgbClr val="252127"/>
                </a:solidFill>
                <a:latin typeface="Aptos"/>
              </a:defRPr>
            </a:pPr>
            <a:endParaRPr sz="1600" b="0" dirty="0">
              <a:solidFill>
                <a:srgbClr val="F8F7F5"/>
              </a:solidFill>
              <a:latin typeface="Lato"/>
              <a:ea typeface="Lato"/>
              <a:cs typeface="Lato"/>
            </a:endParaRPr>
          </a:p>
        </p:txBody>
      </p:sp>
      <p:sp>
        <p:nvSpPr>
          <p:cNvPr id="14" name="Rectangle 13"/>
          <p:cNvSpPr/>
          <p:nvPr/>
        </p:nvSpPr>
        <p:spPr>
          <a:xfrm>
            <a:off x="8193024" y="3904487"/>
            <a:ext cx="621792" cy="68580"/>
          </a:xfrm>
          <a:prstGeom prst="rect">
            <a:avLst/>
          </a:prstGeom>
          <a:solidFill>
            <a:srgbClr val="E5091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93024" y="4215384"/>
            <a:ext cx="2971800" cy="1154162"/>
          </a:xfrm>
          <a:prstGeom prst="rect">
            <a:avLst/>
          </a:prstGeom>
          <a:noFill/>
          <a:ln/>
        </p:spPr>
        <p:txBody>
          <a:bodyPr wrap="square" lIns="0" tIns="0" rIns="0" bIns="0" anchor="t">
            <a:spAutoFit/>
          </a:bodyPr>
          <a:lstStyle/>
          <a:p>
            <a:pPr>
              <a:spcAft>
                <a:spcPts val="300"/>
              </a:spcAft>
              <a:defRPr sz="1500" b="0">
                <a:solidFill>
                  <a:srgbClr val="695F5C"/>
                </a:solidFill>
                <a:latin typeface="Aptos"/>
              </a:defRPr>
            </a:pPr>
            <a:r>
              <a:rPr b="0">
                <a:solidFill>
                  <a:srgbClr val="F8F7F5"/>
                </a:solidFill>
                <a:latin typeface="Seaford"/>
              </a:rPr>
              <a:t>International Movies is the most frequent category, followed by Dramas (2,427) and Comedies (1,674). The dot plot helps compare category counts.</a:t>
            </a:r>
            <a:endParaRPr lang="en-US" b="0">
              <a:solidFill>
                <a:srgbClr val="F8F7F5"/>
              </a:solidFill>
              <a:latin typeface="Seaford"/>
            </a:endParaRPr>
          </a:p>
        </p:txBody>
      </p:sp>
      <p:sp>
        <p:nvSpPr>
          <p:cNvPr id="16" name="TextBox 15"/>
          <p:cNvSpPr txBox="1"/>
          <p:nvPr/>
        </p:nvSpPr>
        <p:spPr>
          <a:xfrm>
            <a:off x="687501" y="6286535"/>
            <a:ext cx="10881360" cy="246888"/>
          </a:xfrm>
          <a:prstGeom prst="rect">
            <a:avLst/>
          </a:prstGeom>
          <a:noFill/>
          <a:ln/>
        </p:spPr>
        <p:txBody>
          <a:bodyPr wrap="square" lIns="0" tIns="0" rIns="0" bIns="0">
            <a:spAutoFit/>
          </a:bodyPr>
          <a:lstStyle/>
          <a:p>
            <a:pPr>
              <a:spcAft>
                <a:spcPts val="300"/>
              </a:spcAft>
              <a:defRPr sz="1100" b="0">
                <a:solidFill>
                  <a:srgbClr val="695F5C"/>
                </a:solidFill>
                <a:latin typeface="Aptos"/>
              </a:defRPr>
            </a:pPr>
            <a:r>
              <a:rPr b="0">
                <a:solidFill>
                  <a:srgbClr val="C5C5CE"/>
                </a:solidFill>
                <a:latin typeface="Lato"/>
              </a:rPr>
              <a:t>Figure 2  •  A title can appear in multiple categories; counts overlap.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C0C10"/>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E5091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38560" y="6409944"/>
            <a:ext cx="329184" cy="237744"/>
          </a:xfrm>
          <a:prstGeom prst="rect">
            <a:avLst/>
          </a:prstGeom>
          <a:noFill/>
          <a:ln/>
        </p:spPr>
        <p:txBody>
          <a:bodyPr wrap="square" lIns="0" tIns="0" rIns="0" bIns="0">
            <a:spAutoFit/>
          </a:bodyPr>
          <a:lstStyle/>
          <a:p>
            <a:pPr algn="r">
              <a:spcAft>
                <a:spcPts val="300"/>
              </a:spcAft>
              <a:defRPr sz="1000" b="1">
                <a:solidFill>
                  <a:srgbClr val="C51C2C"/>
                </a:solidFill>
                <a:latin typeface="Aptos"/>
              </a:defRPr>
            </a:pPr>
            <a:r>
              <a:rPr b="0">
                <a:solidFill>
                  <a:srgbClr val="9FA1AC"/>
                </a:solidFill>
                <a:latin typeface="Lato"/>
              </a:rPr>
              <a:t>07</a:t>
            </a:r>
          </a:p>
        </p:txBody>
      </p:sp>
      <p:sp>
        <p:nvSpPr>
          <p:cNvPr id="7" name="TextBox 6"/>
          <p:cNvSpPr txBox="1"/>
          <p:nvPr/>
        </p:nvSpPr>
        <p:spPr>
          <a:xfrm>
            <a:off x="658368" y="960120"/>
            <a:ext cx="10881360" cy="603504"/>
          </a:xfrm>
          <a:prstGeom prst="rect">
            <a:avLst/>
          </a:prstGeom>
          <a:noFill/>
          <a:ln/>
        </p:spPr>
        <p:txBody>
          <a:bodyPr wrap="square" lIns="0" tIns="0" rIns="0" bIns="0">
            <a:spAutoFit/>
          </a:bodyPr>
          <a:lstStyle/>
          <a:p>
            <a:pPr>
              <a:spcAft>
                <a:spcPts val="300"/>
              </a:spcAft>
              <a:defRPr sz="3200" b="1">
                <a:solidFill>
                  <a:srgbClr val="252127"/>
                </a:solidFill>
                <a:latin typeface="Aptos"/>
              </a:defRPr>
            </a:pPr>
            <a:r>
              <a:rPr sz="3800" b="1">
                <a:solidFill>
                  <a:srgbClr val="F8F7F5"/>
                </a:solidFill>
                <a:latin typeface="Roboto Condensed"/>
              </a:rPr>
              <a:t>Where is content represented?</a:t>
            </a:r>
          </a:p>
        </p:txBody>
      </p:sp>
      <p:sp>
        <p:nvSpPr>
          <p:cNvPr id="8" name="TextBox 7"/>
          <p:cNvSpPr txBox="1"/>
          <p:nvPr/>
        </p:nvSpPr>
        <p:spPr>
          <a:xfrm>
            <a:off x="685800" y="1700784"/>
            <a:ext cx="10607040" cy="246221"/>
          </a:xfrm>
          <a:prstGeom prst="rect">
            <a:avLst/>
          </a:prstGeom>
          <a:noFill/>
          <a:ln/>
        </p:spPr>
        <p:txBody>
          <a:bodyPr wrap="square" lIns="0" tIns="0" rIns="0" bIns="0" anchor="t">
            <a:spAutoFit/>
          </a:bodyPr>
          <a:lstStyle/>
          <a:p>
            <a:pPr>
              <a:spcAft>
                <a:spcPts val="300"/>
              </a:spcAft>
              <a:defRPr sz="1600" b="0">
                <a:solidFill>
                  <a:srgbClr val="695F5C"/>
                </a:solidFill>
                <a:latin typeface="Aptos"/>
              </a:defRPr>
            </a:pPr>
            <a:r>
              <a:rPr b="0">
                <a:solidFill>
                  <a:srgbClr val="C5C5CE"/>
                </a:solidFill>
                <a:latin typeface="Seaford"/>
              </a:rPr>
              <a:t>Which countries are associated with the most titles?</a:t>
            </a:r>
            <a:endParaRPr lang="en-US" b="0">
              <a:solidFill>
                <a:srgbClr val="C5C5CE"/>
              </a:solidFill>
              <a:latin typeface="Seaford"/>
            </a:endParaRPr>
          </a:p>
        </p:txBody>
      </p:sp>
      <p:sp>
        <p:nvSpPr>
          <p:cNvPr id="9" name="Rounded Rectangle 8"/>
          <p:cNvSpPr/>
          <p:nvPr/>
        </p:nvSpPr>
        <p:spPr>
          <a:xfrm>
            <a:off x="685800" y="2139696"/>
            <a:ext cx="6858000" cy="3959352"/>
          </a:xfrm>
          <a:prstGeom prst="roundRect">
            <a:avLst>
              <a:gd name="adj" fmla="val 12000"/>
            </a:avLst>
          </a:prstGeom>
          <a:solidFill>
            <a:srgbClr val="FFFFFF"/>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updated_chart_cell11_0.png"/>
          <p:cNvPicPr>
            <a:picLocks noChangeAspect="1"/>
          </p:cNvPicPr>
          <p:nvPr/>
        </p:nvPicPr>
        <p:blipFill>
          <a:blip r:embed="rId2"/>
          <a:stretch>
            <a:fillRect/>
          </a:stretch>
        </p:blipFill>
        <p:spPr>
          <a:xfrm>
            <a:off x="1392420" y="2231136"/>
            <a:ext cx="5444759" cy="3776472"/>
          </a:xfrm>
          <a:prstGeom prst="rect">
            <a:avLst/>
          </a:prstGeom>
          <a:ln/>
        </p:spPr>
      </p:pic>
      <p:sp>
        <p:nvSpPr>
          <p:cNvPr id="11" name="Rounded Rectangle 10"/>
          <p:cNvSpPr/>
          <p:nvPr/>
        </p:nvSpPr>
        <p:spPr>
          <a:xfrm>
            <a:off x="7909560" y="2450592"/>
            <a:ext cx="3611880" cy="3474720"/>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93024" y="2715768"/>
            <a:ext cx="3035808" cy="592470"/>
          </a:xfrm>
          <a:prstGeom prst="rect">
            <a:avLst/>
          </a:prstGeom>
          <a:noFill/>
          <a:ln/>
        </p:spPr>
        <p:txBody>
          <a:bodyPr wrap="square" lIns="0" tIns="0" rIns="0" bIns="0" anchor="t">
            <a:spAutoFit/>
          </a:bodyPr>
          <a:lstStyle/>
          <a:p>
            <a:pPr>
              <a:defRPr sz="1100" b="1">
                <a:solidFill>
                  <a:srgbClr val="C51C2C"/>
                </a:solidFill>
                <a:latin typeface="Aptos"/>
              </a:defRPr>
            </a:pPr>
            <a:r>
              <a:rPr lang="en-US" sz="1400" b="1">
                <a:solidFill>
                  <a:srgbClr val="E50914"/>
                </a:solidFill>
                <a:latin typeface="Seaford"/>
              </a:rPr>
              <a:t>KEY FINDING</a:t>
            </a:r>
            <a:endParaRPr lang="en-US" sz="1400">
              <a:solidFill>
                <a:srgbClr val="000000"/>
              </a:solidFill>
              <a:latin typeface="Seaford"/>
            </a:endParaRPr>
          </a:p>
          <a:p>
            <a:pPr>
              <a:spcAft>
                <a:spcPts val="300"/>
              </a:spcAft>
              <a:defRPr sz="1100" b="1">
                <a:solidFill>
                  <a:srgbClr val="C51C2C"/>
                </a:solidFill>
                <a:latin typeface="Aptos"/>
              </a:defRPr>
            </a:pPr>
            <a:endParaRPr lang="en-US" dirty="0">
              <a:solidFill>
                <a:srgbClr val="000000"/>
              </a:solidFill>
              <a:latin typeface="Roboto Condensed"/>
              <a:ea typeface="Roboto Condensed"/>
              <a:cs typeface="Roboto Condensed"/>
            </a:endParaRPr>
          </a:p>
          <a:p>
            <a:pPr>
              <a:spcAft>
                <a:spcPts val="300"/>
              </a:spcAft>
              <a:defRPr sz="1100" b="1">
                <a:solidFill>
                  <a:srgbClr val="C51C2C"/>
                </a:solidFill>
                <a:latin typeface="Aptos"/>
              </a:defRPr>
            </a:pPr>
            <a:endParaRPr b="1" dirty="0">
              <a:solidFill>
                <a:srgbClr val="E50914"/>
              </a:solidFill>
              <a:latin typeface="Roboto Condensed"/>
              <a:ea typeface="Roboto Condensed"/>
              <a:cs typeface="Roboto Condensed"/>
            </a:endParaRPr>
          </a:p>
        </p:txBody>
      </p:sp>
      <p:sp>
        <p:nvSpPr>
          <p:cNvPr id="13" name="TextBox 12"/>
          <p:cNvSpPr txBox="1"/>
          <p:nvPr/>
        </p:nvSpPr>
        <p:spPr>
          <a:xfrm>
            <a:off x="8193024" y="3154680"/>
            <a:ext cx="3108960" cy="676656"/>
          </a:xfrm>
          <a:prstGeom prst="rect">
            <a:avLst/>
          </a:prstGeom>
          <a:noFill/>
          <a:ln/>
        </p:spPr>
        <p:txBody>
          <a:bodyPr wrap="square" lIns="0" tIns="0" rIns="0" bIns="0">
            <a:spAutoFit/>
          </a:bodyPr>
          <a:lstStyle/>
          <a:p>
            <a:pPr>
              <a:spcAft>
                <a:spcPts val="300"/>
              </a:spcAft>
              <a:defRPr sz="2600" b="1">
                <a:solidFill>
                  <a:srgbClr val="252127"/>
                </a:solidFill>
                <a:latin typeface="Aptos"/>
              </a:defRPr>
            </a:pPr>
            <a:r>
              <a:rPr b="0">
                <a:solidFill>
                  <a:srgbClr val="F8F7F5"/>
                </a:solidFill>
                <a:latin typeface="Lato"/>
              </a:rPr>
              <a:t>3,690 US titles</a:t>
            </a:r>
          </a:p>
        </p:txBody>
      </p:sp>
      <p:sp>
        <p:nvSpPr>
          <p:cNvPr id="14" name="Rectangle 13"/>
          <p:cNvSpPr/>
          <p:nvPr/>
        </p:nvSpPr>
        <p:spPr>
          <a:xfrm>
            <a:off x="8193024" y="3762247"/>
            <a:ext cx="621792" cy="68580"/>
          </a:xfrm>
          <a:prstGeom prst="rect">
            <a:avLst/>
          </a:prstGeom>
          <a:solidFill>
            <a:srgbClr val="E5091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93024" y="3961384"/>
            <a:ext cx="2971800" cy="1846659"/>
          </a:xfrm>
          <a:prstGeom prst="rect">
            <a:avLst/>
          </a:prstGeom>
          <a:noFill/>
          <a:ln/>
        </p:spPr>
        <p:txBody>
          <a:bodyPr wrap="square" lIns="0" tIns="0" rIns="0" bIns="0" anchor="t">
            <a:spAutoFit/>
          </a:bodyPr>
          <a:lstStyle/>
          <a:p>
            <a:pPr>
              <a:spcAft>
                <a:spcPts val="300"/>
              </a:spcAft>
              <a:defRPr sz="1500" b="0">
                <a:solidFill>
                  <a:srgbClr val="695F5C"/>
                </a:solidFill>
                <a:latin typeface="Aptos"/>
              </a:defRPr>
            </a:pPr>
            <a:r>
              <a:rPr b="0">
                <a:solidFill>
                  <a:srgbClr val="F8F7F5"/>
                </a:solidFill>
                <a:latin typeface="Seaford"/>
              </a:rPr>
              <a:t>The United States leads, followed by India (1,046) and the United Kingdom (806). The bar lengths show how much larger the U.S. count is.</a:t>
            </a:r>
            <a:r>
              <a:rPr lang="en-US">
                <a:solidFill>
                  <a:srgbClr val="F8F7F5"/>
                </a:solidFill>
                <a:latin typeface="Seaford"/>
              </a:rPr>
              <a:t> </a:t>
            </a:r>
            <a:r>
              <a:rPr lang="en-US">
                <a:solidFill>
                  <a:srgbClr val="F8F7F5"/>
                </a:solidFill>
                <a:ea typeface="+mn-lt"/>
                <a:cs typeface="+mn-lt"/>
              </a:rPr>
              <a:t>Some titles are associated with multiple countries, so they were counted under each country listed.</a:t>
            </a:r>
            <a:endParaRPr lang="en-US" b="0">
              <a:solidFill>
                <a:srgbClr val="F8F7F5"/>
              </a:solidFill>
              <a:latin typeface="Seaford"/>
            </a:endParaRPr>
          </a:p>
        </p:txBody>
      </p:sp>
      <p:sp>
        <p:nvSpPr>
          <p:cNvPr id="16" name="TextBox 15"/>
          <p:cNvSpPr txBox="1"/>
          <p:nvPr/>
        </p:nvSpPr>
        <p:spPr>
          <a:xfrm>
            <a:off x="784966" y="6286535"/>
            <a:ext cx="10881360" cy="200055"/>
          </a:xfrm>
          <a:prstGeom prst="rect">
            <a:avLst/>
          </a:prstGeom>
          <a:noFill/>
          <a:ln/>
        </p:spPr>
        <p:txBody>
          <a:bodyPr wrap="square" lIns="0" tIns="0" rIns="0" bIns="0" anchor="t">
            <a:spAutoFit/>
          </a:bodyPr>
          <a:lstStyle/>
          <a:p>
            <a:pPr>
              <a:spcAft>
                <a:spcPts val="300"/>
              </a:spcAft>
              <a:defRPr sz="1100" b="0">
                <a:solidFill>
                  <a:srgbClr val="695F5C"/>
                </a:solidFill>
                <a:latin typeface="Aptos"/>
              </a:defRPr>
            </a:pPr>
            <a:r>
              <a:rPr sz="1300" b="0">
                <a:solidFill>
                  <a:srgbClr val="C5C5CE"/>
                </a:solidFill>
                <a:latin typeface="Lato"/>
              </a:rPr>
              <a:t>Figure 3</a:t>
            </a:r>
            <a:r>
              <a:rPr lang="en-US" sz="1300">
                <a:solidFill>
                  <a:srgbClr val="C5C5CE"/>
                </a:solidFill>
                <a:latin typeface="Lato"/>
              </a:rPr>
              <a:t>) 831</a:t>
            </a:r>
            <a:r>
              <a:rPr sz="1300" b="0" dirty="0">
                <a:solidFill>
                  <a:srgbClr val="C5C5CE"/>
                </a:solidFill>
                <a:latin typeface="Lato"/>
              </a:rPr>
              <a:t> country values are missing.</a:t>
            </a:r>
            <a:endParaRPr lang="en-US" sz="1300" b="0">
              <a:solidFill>
                <a:srgbClr val="C5C5CE"/>
              </a:solidFill>
              <a:latin typeface="Lato"/>
              <a:ea typeface="Lato"/>
              <a:cs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0C10"/>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E5091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38560" y="6409944"/>
            <a:ext cx="329184" cy="237744"/>
          </a:xfrm>
          <a:prstGeom prst="rect">
            <a:avLst/>
          </a:prstGeom>
          <a:noFill/>
          <a:ln/>
        </p:spPr>
        <p:txBody>
          <a:bodyPr wrap="square" lIns="0" tIns="0" rIns="0" bIns="0">
            <a:spAutoFit/>
          </a:bodyPr>
          <a:lstStyle/>
          <a:p>
            <a:pPr algn="r">
              <a:spcAft>
                <a:spcPts val="300"/>
              </a:spcAft>
              <a:defRPr sz="1000" b="1">
                <a:solidFill>
                  <a:srgbClr val="C51C2C"/>
                </a:solidFill>
                <a:latin typeface="Aptos"/>
              </a:defRPr>
            </a:pPr>
            <a:r>
              <a:rPr b="0">
                <a:solidFill>
                  <a:srgbClr val="9FA1AC"/>
                </a:solidFill>
                <a:latin typeface="Lato"/>
              </a:rPr>
              <a:t>08</a:t>
            </a:r>
          </a:p>
        </p:txBody>
      </p:sp>
      <p:sp>
        <p:nvSpPr>
          <p:cNvPr id="7" name="TextBox 6"/>
          <p:cNvSpPr txBox="1"/>
          <p:nvPr/>
        </p:nvSpPr>
        <p:spPr>
          <a:xfrm>
            <a:off x="658368" y="960120"/>
            <a:ext cx="10881360" cy="603504"/>
          </a:xfrm>
          <a:prstGeom prst="rect">
            <a:avLst/>
          </a:prstGeom>
          <a:noFill/>
          <a:ln/>
        </p:spPr>
        <p:txBody>
          <a:bodyPr wrap="square" lIns="0" tIns="0" rIns="0" bIns="0" anchor="t">
            <a:spAutoFit/>
          </a:bodyPr>
          <a:lstStyle/>
          <a:p>
            <a:pPr>
              <a:spcAft>
                <a:spcPts val="300"/>
              </a:spcAft>
              <a:defRPr sz="3200" b="1">
                <a:solidFill>
                  <a:srgbClr val="252127"/>
                </a:solidFill>
                <a:latin typeface="Aptos"/>
              </a:defRPr>
            </a:pPr>
            <a:r>
              <a:rPr lang="en-US" sz="3800" b="1">
                <a:solidFill>
                  <a:srgbClr val="F8F7F5"/>
                </a:solidFill>
                <a:latin typeface="Roboto Condensed"/>
              </a:rPr>
              <a:t>Distribution of movie durations on</a:t>
            </a:r>
            <a:r>
              <a:rPr lang="en-US" sz="3800" b="1" dirty="0">
                <a:solidFill>
                  <a:srgbClr val="F8F7F5"/>
                </a:solidFill>
                <a:latin typeface="Roboto Condensed"/>
              </a:rPr>
              <a:t> Netflix.</a:t>
            </a:r>
            <a:endParaRPr lang="en-US" sz="3800" b="1" dirty="0">
              <a:solidFill>
                <a:srgbClr val="F8F7F5"/>
              </a:solidFill>
              <a:latin typeface="Roboto Condensed"/>
              <a:ea typeface="Roboto Condensed"/>
              <a:cs typeface="Roboto Condensed"/>
            </a:endParaRPr>
          </a:p>
        </p:txBody>
      </p:sp>
      <p:sp>
        <p:nvSpPr>
          <p:cNvPr id="8" name="TextBox 7"/>
          <p:cNvSpPr txBox="1"/>
          <p:nvPr/>
        </p:nvSpPr>
        <p:spPr>
          <a:xfrm>
            <a:off x="685800" y="1700784"/>
            <a:ext cx="10607040" cy="246221"/>
          </a:xfrm>
          <a:prstGeom prst="rect">
            <a:avLst/>
          </a:prstGeom>
          <a:noFill/>
          <a:ln/>
        </p:spPr>
        <p:txBody>
          <a:bodyPr wrap="square" lIns="0" tIns="0" rIns="0" bIns="0" anchor="t">
            <a:spAutoFit/>
          </a:bodyPr>
          <a:lstStyle/>
          <a:p>
            <a:pPr>
              <a:spcAft>
                <a:spcPts val="300"/>
              </a:spcAft>
              <a:defRPr sz="1600" b="0">
                <a:solidFill>
                  <a:srgbClr val="695F5C"/>
                </a:solidFill>
                <a:latin typeface="Aptos"/>
              </a:defRPr>
            </a:pPr>
            <a:r>
              <a:rPr b="0">
                <a:solidFill>
                  <a:srgbClr val="C5C5CE"/>
                </a:solidFill>
                <a:latin typeface="Seaford"/>
              </a:rPr>
              <a:t>What movie-duration range is most common</a:t>
            </a:r>
            <a:r>
              <a:rPr lang="en-US">
                <a:solidFill>
                  <a:srgbClr val="C5C5CE"/>
                </a:solidFill>
                <a:latin typeface="Seaford"/>
              </a:rPr>
              <a:t> in the dataset</a:t>
            </a:r>
            <a:r>
              <a:rPr b="0" dirty="0">
                <a:solidFill>
                  <a:srgbClr val="C5C5CE"/>
                </a:solidFill>
                <a:latin typeface="Seaford"/>
              </a:rPr>
              <a:t>?</a:t>
            </a:r>
            <a:endParaRPr lang="en-US" b="0" dirty="0">
              <a:solidFill>
                <a:srgbClr val="C5C5CE"/>
              </a:solidFill>
              <a:latin typeface="Seaford"/>
            </a:endParaRPr>
          </a:p>
        </p:txBody>
      </p:sp>
      <p:sp>
        <p:nvSpPr>
          <p:cNvPr id="9" name="Rounded Rectangle 8"/>
          <p:cNvSpPr/>
          <p:nvPr/>
        </p:nvSpPr>
        <p:spPr>
          <a:xfrm>
            <a:off x="685800" y="2139696"/>
            <a:ext cx="6858000" cy="3959352"/>
          </a:xfrm>
          <a:prstGeom prst="roundRect">
            <a:avLst>
              <a:gd name="adj" fmla="val 12000"/>
            </a:avLst>
          </a:prstGeom>
          <a:solidFill>
            <a:srgbClr val="FFFFFF"/>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updated_chart_cell16_0.png"/>
          <p:cNvPicPr>
            <a:picLocks noChangeAspect="1"/>
          </p:cNvPicPr>
          <p:nvPr/>
        </p:nvPicPr>
        <p:blipFill>
          <a:blip r:embed="rId2"/>
          <a:stretch>
            <a:fillRect/>
          </a:stretch>
        </p:blipFill>
        <p:spPr>
          <a:xfrm>
            <a:off x="1149544" y="2231136"/>
            <a:ext cx="5930510" cy="3776472"/>
          </a:xfrm>
          <a:prstGeom prst="rect">
            <a:avLst/>
          </a:prstGeom>
          <a:ln/>
        </p:spPr>
      </p:pic>
      <p:sp>
        <p:nvSpPr>
          <p:cNvPr id="11" name="Rounded Rectangle 10"/>
          <p:cNvSpPr/>
          <p:nvPr/>
        </p:nvSpPr>
        <p:spPr>
          <a:xfrm>
            <a:off x="7909560" y="2450592"/>
            <a:ext cx="3611880" cy="3474720"/>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93024" y="2715768"/>
            <a:ext cx="3035808" cy="800219"/>
          </a:xfrm>
          <a:prstGeom prst="rect">
            <a:avLst/>
          </a:prstGeom>
          <a:noFill/>
          <a:ln/>
        </p:spPr>
        <p:txBody>
          <a:bodyPr wrap="square" lIns="0" tIns="0" rIns="0" bIns="0" anchor="t">
            <a:spAutoFit/>
          </a:bodyPr>
          <a:lstStyle/>
          <a:p>
            <a:pPr>
              <a:defRPr sz="1100" b="1">
                <a:solidFill>
                  <a:srgbClr val="C51C2C"/>
                </a:solidFill>
                <a:latin typeface="Aptos"/>
              </a:defRPr>
            </a:pPr>
            <a:r>
              <a:rPr lang="en-US" sz="1400" b="1">
                <a:solidFill>
                  <a:srgbClr val="E50914"/>
                </a:solidFill>
                <a:latin typeface="Seaford"/>
                <a:ea typeface="Roboto Condensed"/>
                <a:cs typeface="Roboto Condensed"/>
              </a:rPr>
              <a:t>KEY FINDING</a:t>
            </a:r>
            <a:endParaRPr lang="en-US" sz="1400">
              <a:solidFill>
                <a:srgbClr val="000000"/>
              </a:solidFill>
              <a:latin typeface="Seaford"/>
              <a:ea typeface="Roboto Condensed"/>
              <a:cs typeface="Roboto Condensed"/>
            </a:endParaRPr>
          </a:p>
          <a:p>
            <a:pPr>
              <a:spcAft>
                <a:spcPts val="300"/>
              </a:spcAft>
              <a:defRPr sz="1100" b="1">
                <a:solidFill>
                  <a:srgbClr val="C51C2C"/>
                </a:solidFill>
                <a:latin typeface="Aptos"/>
              </a:defRPr>
            </a:pPr>
            <a:endParaRPr lang="en-US" dirty="0">
              <a:solidFill>
                <a:srgbClr val="000000"/>
              </a:solidFill>
              <a:latin typeface="Roboto Condensed"/>
              <a:ea typeface="Roboto Condensed"/>
              <a:cs typeface="Roboto Condensed"/>
            </a:endParaRPr>
          </a:p>
          <a:p>
            <a:pPr>
              <a:spcAft>
                <a:spcPts val="300"/>
              </a:spcAft>
              <a:defRPr sz="1100" b="1">
                <a:solidFill>
                  <a:srgbClr val="C51C2C"/>
                </a:solidFill>
                <a:latin typeface="Aptos"/>
              </a:defRPr>
            </a:pPr>
            <a:endParaRPr lang="en-US" dirty="0">
              <a:solidFill>
                <a:srgbClr val="000000"/>
              </a:solidFill>
              <a:latin typeface="Roboto Condensed"/>
              <a:ea typeface="Roboto Condensed"/>
              <a:cs typeface="Roboto Condensed"/>
            </a:endParaRPr>
          </a:p>
          <a:p>
            <a:pPr>
              <a:spcAft>
                <a:spcPts val="300"/>
              </a:spcAft>
              <a:defRPr sz="1100" b="1">
                <a:solidFill>
                  <a:srgbClr val="C51C2C"/>
                </a:solidFill>
                <a:latin typeface="Aptos"/>
              </a:defRPr>
            </a:pPr>
            <a:endParaRPr lang="en-US" b="1" dirty="0">
              <a:solidFill>
                <a:srgbClr val="E50914"/>
              </a:solidFill>
              <a:latin typeface="Roboto Condensed"/>
              <a:ea typeface="Roboto Condensed"/>
              <a:cs typeface="Roboto Condensed"/>
            </a:endParaRPr>
          </a:p>
        </p:txBody>
      </p:sp>
      <p:sp>
        <p:nvSpPr>
          <p:cNvPr id="13" name="TextBox 12"/>
          <p:cNvSpPr txBox="1"/>
          <p:nvPr/>
        </p:nvSpPr>
        <p:spPr>
          <a:xfrm>
            <a:off x="8193024" y="3154680"/>
            <a:ext cx="3108960" cy="676656"/>
          </a:xfrm>
          <a:prstGeom prst="rect">
            <a:avLst/>
          </a:prstGeom>
          <a:noFill/>
          <a:ln/>
        </p:spPr>
        <p:txBody>
          <a:bodyPr wrap="square" lIns="0" tIns="0" rIns="0" bIns="0">
            <a:spAutoFit/>
          </a:bodyPr>
          <a:lstStyle/>
          <a:p>
            <a:pPr>
              <a:spcAft>
                <a:spcPts val="300"/>
              </a:spcAft>
              <a:defRPr sz="2600" b="1">
                <a:solidFill>
                  <a:srgbClr val="252127"/>
                </a:solidFill>
                <a:latin typeface="Aptos"/>
              </a:defRPr>
            </a:pPr>
            <a:r>
              <a:rPr b="0">
                <a:solidFill>
                  <a:srgbClr val="F8F7F5"/>
                </a:solidFill>
                <a:latin typeface="Lato"/>
              </a:rPr>
              <a:t>90–120 minutes</a:t>
            </a:r>
          </a:p>
        </p:txBody>
      </p:sp>
      <p:sp>
        <p:nvSpPr>
          <p:cNvPr id="14" name="Rectangle 13"/>
          <p:cNvSpPr/>
          <p:nvPr/>
        </p:nvSpPr>
        <p:spPr>
          <a:xfrm>
            <a:off x="8193024" y="3904487"/>
            <a:ext cx="621792" cy="68580"/>
          </a:xfrm>
          <a:prstGeom prst="rect">
            <a:avLst/>
          </a:prstGeom>
          <a:solidFill>
            <a:srgbClr val="E5091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93024" y="4215384"/>
            <a:ext cx="2971800" cy="1154162"/>
          </a:xfrm>
          <a:prstGeom prst="rect">
            <a:avLst/>
          </a:prstGeom>
          <a:noFill/>
          <a:ln/>
        </p:spPr>
        <p:txBody>
          <a:bodyPr wrap="square" lIns="0" tIns="0" rIns="0" bIns="0" anchor="t">
            <a:spAutoFit/>
          </a:bodyPr>
          <a:lstStyle/>
          <a:p>
            <a:pPr>
              <a:spcAft>
                <a:spcPts val="300"/>
              </a:spcAft>
              <a:defRPr sz="1500" b="0">
                <a:solidFill>
                  <a:srgbClr val="695F5C"/>
                </a:solidFill>
                <a:latin typeface="Aptos"/>
              </a:defRPr>
            </a:pPr>
            <a:r>
              <a:rPr b="0">
                <a:solidFill>
                  <a:srgbClr val="F8F7F5"/>
                </a:solidFill>
                <a:latin typeface="Seaford"/>
              </a:rPr>
              <a:t>Movie durations cluster around 90–120 minutes. The histogram groups lengths in 15-minute intervals, making typical movie lengths easy to spot.</a:t>
            </a:r>
            <a:endParaRPr lang="en-US" b="0">
              <a:solidFill>
                <a:srgbClr val="F8F7F5"/>
              </a:solidFill>
              <a:latin typeface="Seaford"/>
            </a:endParaRPr>
          </a:p>
        </p:txBody>
      </p:sp>
      <p:sp>
        <p:nvSpPr>
          <p:cNvPr id="16" name="TextBox 15"/>
          <p:cNvSpPr txBox="1"/>
          <p:nvPr/>
        </p:nvSpPr>
        <p:spPr>
          <a:xfrm>
            <a:off x="687501" y="6286535"/>
            <a:ext cx="10881360" cy="246888"/>
          </a:xfrm>
          <a:prstGeom prst="rect">
            <a:avLst/>
          </a:prstGeom>
          <a:noFill/>
          <a:ln/>
        </p:spPr>
        <p:txBody>
          <a:bodyPr wrap="square" lIns="0" tIns="0" rIns="0" bIns="0">
            <a:spAutoFit/>
          </a:bodyPr>
          <a:lstStyle/>
          <a:p>
            <a:pPr>
              <a:spcAft>
                <a:spcPts val="300"/>
              </a:spcAft>
              <a:defRPr sz="1100" b="0">
                <a:solidFill>
                  <a:srgbClr val="695F5C"/>
                </a:solidFill>
                <a:latin typeface="Aptos"/>
              </a:defRPr>
            </a:pPr>
            <a:r>
              <a:rPr b="0">
                <a:solidFill>
                  <a:srgbClr val="C5C5CE"/>
                </a:solidFill>
                <a:latin typeface="Lato"/>
              </a:rPr>
              <a:t>Figure 4  •  Movie durations only; missing durations are excluded.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0C10"/>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E5091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4099" y="598329"/>
            <a:ext cx="8229600" cy="246221"/>
          </a:xfrm>
          <a:prstGeom prst="rect">
            <a:avLst/>
          </a:prstGeom>
          <a:noFill/>
          <a:ln/>
        </p:spPr>
        <p:txBody>
          <a:bodyPr wrap="square" lIns="0" tIns="0" rIns="0" bIns="0" anchor="t">
            <a:spAutoFit/>
          </a:bodyPr>
          <a:lstStyle/>
          <a:p>
            <a:pPr>
              <a:spcAft>
                <a:spcPts val="300"/>
              </a:spcAft>
              <a:defRPr sz="900" b="1">
                <a:solidFill>
                  <a:srgbClr val="695F5C"/>
                </a:solidFill>
                <a:latin typeface="Aptos"/>
              </a:defRPr>
            </a:pPr>
            <a:r>
              <a:rPr lang="en-US" sz="1600" b="1">
                <a:solidFill>
                  <a:srgbClr val="E50914"/>
                </a:solidFill>
                <a:latin typeface="Segoe UI"/>
                <a:cs typeface="Segoe UI"/>
              </a:rPr>
              <a:t>CONCLUSION</a:t>
            </a:r>
            <a:endParaRPr lang="en-US" sz="1600" b="1">
              <a:solidFill>
                <a:srgbClr val="E50914"/>
              </a:solidFill>
              <a:latin typeface="Segoe UI"/>
              <a:ea typeface="Roboto Condensed"/>
              <a:cs typeface="Segoe UI"/>
            </a:endParaRPr>
          </a:p>
        </p:txBody>
      </p:sp>
      <p:sp>
        <p:nvSpPr>
          <p:cNvPr id="6" name="TextBox 5"/>
          <p:cNvSpPr txBox="1"/>
          <p:nvPr/>
        </p:nvSpPr>
        <p:spPr>
          <a:xfrm>
            <a:off x="11338560" y="6409944"/>
            <a:ext cx="329184" cy="237744"/>
          </a:xfrm>
          <a:prstGeom prst="rect">
            <a:avLst/>
          </a:prstGeom>
          <a:noFill/>
          <a:ln/>
        </p:spPr>
        <p:txBody>
          <a:bodyPr wrap="square" lIns="0" tIns="0" rIns="0" bIns="0">
            <a:spAutoFit/>
          </a:bodyPr>
          <a:lstStyle/>
          <a:p>
            <a:pPr algn="r">
              <a:spcAft>
                <a:spcPts val="300"/>
              </a:spcAft>
              <a:defRPr sz="1000" b="1">
                <a:solidFill>
                  <a:srgbClr val="C51C2C"/>
                </a:solidFill>
                <a:latin typeface="Aptos"/>
              </a:defRPr>
            </a:pPr>
            <a:r>
              <a:rPr b="0">
                <a:solidFill>
                  <a:srgbClr val="9FA1AC"/>
                </a:solidFill>
                <a:latin typeface="Lato"/>
              </a:rPr>
              <a:t>09</a:t>
            </a:r>
          </a:p>
        </p:txBody>
      </p:sp>
      <p:sp>
        <p:nvSpPr>
          <p:cNvPr id="7" name="TextBox 6"/>
          <p:cNvSpPr txBox="1"/>
          <p:nvPr/>
        </p:nvSpPr>
        <p:spPr>
          <a:xfrm>
            <a:off x="658368" y="960120"/>
            <a:ext cx="10881360" cy="603504"/>
          </a:xfrm>
          <a:prstGeom prst="rect">
            <a:avLst/>
          </a:prstGeom>
          <a:noFill/>
          <a:ln/>
        </p:spPr>
        <p:txBody>
          <a:bodyPr wrap="square" lIns="0" tIns="0" rIns="0" bIns="0" anchor="t">
            <a:spAutoFit/>
          </a:bodyPr>
          <a:lstStyle/>
          <a:p>
            <a:pPr>
              <a:spcAft>
                <a:spcPts val="300"/>
              </a:spcAft>
              <a:defRPr sz="3200" b="1">
                <a:solidFill>
                  <a:srgbClr val="252127"/>
                </a:solidFill>
                <a:latin typeface="Aptos"/>
              </a:defRPr>
            </a:pPr>
            <a:r>
              <a:rPr sz="3800" b="1">
                <a:solidFill>
                  <a:srgbClr val="F8F7F5"/>
                </a:solidFill>
                <a:latin typeface="Roboto Condensed"/>
              </a:rPr>
              <a:t>What the catalog reveals</a:t>
            </a:r>
            <a:r>
              <a:rPr lang="en-US" sz="3800" b="1">
                <a:solidFill>
                  <a:srgbClr val="F8F7F5"/>
                </a:solidFill>
                <a:latin typeface="Roboto Condensed"/>
              </a:rPr>
              <a:t>:</a:t>
            </a:r>
            <a:endParaRPr sz="3800" b="1">
              <a:solidFill>
                <a:srgbClr val="F8F7F5"/>
              </a:solidFill>
              <a:latin typeface="Roboto Condensed"/>
            </a:endParaRPr>
          </a:p>
        </p:txBody>
      </p:sp>
      <p:sp>
        <p:nvSpPr>
          <p:cNvPr id="8" name="TextBox 7"/>
          <p:cNvSpPr txBox="1"/>
          <p:nvPr/>
        </p:nvSpPr>
        <p:spPr>
          <a:xfrm>
            <a:off x="685800" y="1700784"/>
            <a:ext cx="10607040" cy="246221"/>
          </a:xfrm>
          <a:prstGeom prst="rect">
            <a:avLst/>
          </a:prstGeom>
          <a:noFill/>
          <a:ln/>
        </p:spPr>
        <p:txBody>
          <a:bodyPr wrap="square" lIns="0" tIns="0" rIns="0" bIns="0" anchor="t">
            <a:spAutoFit/>
          </a:bodyPr>
          <a:lstStyle/>
          <a:p>
            <a:pPr>
              <a:spcAft>
                <a:spcPts val="300"/>
              </a:spcAft>
              <a:defRPr sz="1600" b="0">
                <a:solidFill>
                  <a:srgbClr val="695F5C"/>
                </a:solidFill>
                <a:latin typeface="Aptos"/>
              </a:defRPr>
            </a:pPr>
            <a:r>
              <a:rPr b="0" dirty="0">
                <a:solidFill>
                  <a:srgbClr val="C5C5CE"/>
                </a:solidFill>
                <a:latin typeface="Seaford"/>
              </a:rPr>
              <a:t>Four </a:t>
            </a:r>
            <a:r>
              <a:rPr lang="en-US">
                <a:solidFill>
                  <a:srgbClr val="C5C5CE"/>
                </a:solidFill>
                <a:latin typeface="Seaford"/>
              </a:rPr>
              <a:t>key takeaways</a:t>
            </a:r>
            <a:r>
              <a:rPr lang="en-US" dirty="0">
                <a:solidFill>
                  <a:srgbClr val="C5C5CE"/>
                </a:solidFill>
                <a:latin typeface="Seaford"/>
              </a:rPr>
              <a:t> from the </a:t>
            </a:r>
            <a:r>
              <a:rPr b="0" dirty="0">
                <a:solidFill>
                  <a:srgbClr val="C5C5CE"/>
                </a:solidFill>
                <a:latin typeface="Seaford"/>
              </a:rPr>
              <a:t>Netflix dataset.</a:t>
            </a:r>
            <a:endParaRPr lang="en-US" b="0" dirty="0">
              <a:solidFill>
                <a:srgbClr val="C5C5CE"/>
              </a:solidFill>
              <a:latin typeface="Seaford"/>
            </a:endParaRPr>
          </a:p>
        </p:txBody>
      </p:sp>
      <p:sp>
        <p:nvSpPr>
          <p:cNvPr id="9" name="Rounded Rectangle 8"/>
          <p:cNvSpPr/>
          <p:nvPr/>
        </p:nvSpPr>
        <p:spPr>
          <a:xfrm>
            <a:off x="768096" y="2249424"/>
            <a:ext cx="10735056" cy="630936"/>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0976" y="2386584"/>
            <a:ext cx="457200" cy="320040"/>
          </a:xfrm>
          <a:prstGeom prst="rect">
            <a:avLst/>
          </a:prstGeom>
          <a:noFill/>
          <a:ln/>
        </p:spPr>
        <p:txBody>
          <a:bodyPr wrap="square" lIns="0" tIns="0" rIns="0" bIns="0">
            <a:spAutoFit/>
          </a:bodyPr>
          <a:lstStyle/>
          <a:p>
            <a:pPr>
              <a:spcAft>
                <a:spcPts val="300"/>
              </a:spcAft>
              <a:defRPr sz="1300" b="1">
                <a:solidFill>
                  <a:srgbClr val="C51C2C"/>
                </a:solidFill>
                <a:latin typeface="Aptos"/>
              </a:defRPr>
            </a:pPr>
            <a:r>
              <a:rPr b="0">
                <a:solidFill>
                  <a:srgbClr val="F8F7F5"/>
                </a:solidFill>
                <a:latin typeface="Lato"/>
              </a:rPr>
              <a:t>01</a:t>
            </a:r>
          </a:p>
        </p:txBody>
      </p:sp>
      <p:sp>
        <p:nvSpPr>
          <p:cNvPr id="11" name="TextBox 10"/>
          <p:cNvSpPr txBox="1"/>
          <p:nvPr/>
        </p:nvSpPr>
        <p:spPr>
          <a:xfrm>
            <a:off x="1618488" y="2377440"/>
            <a:ext cx="3566160" cy="246221"/>
          </a:xfrm>
          <a:prstGeom prst="rect">
            <a:avLst/>
          </a:prstGeom>
          <a:noFill/>
          <a:ln/>
        </p:spPr>
        <p:txBody>
          <a:bodyPr wrap="square" lIns="0" tIns="0" rIns="0" bIns="0" anchor="t">
            <a:spAutoFit/>
          </a:bodyPr>
          <a:lstStyle/>
          <a:p>
            <a:pPr>
              <a:spcAft>
                <a:spcPts val="300"/>
              </a:spcAft>
              <a:defRPr sz="1600" b="1">
                <a:solidFill>
                  <a:srgbClr val="252127"/>
                </a:solidFill>
                <a:latin typeface="Aptos"/>
              </a:defRPr>
            </a:pPr>
            <a:r>
              <a:rPr b="1">
                <a:solidFill>
                  <a:srgbClr val="E50914"/>
                </a:solidFill>
                <a:latin typeface="Segoe UI"/>
                <a:cs typeface="Segoe UI"/>
              </a:rPr>
              <a:t>MOVIES DOMINATE</a:t>
            </a:r>
            <a:endParaRPr lang="en-US" b="1">
              <a:solidFill>
                <a:srgbClr val="E50914"/>
              </a:solidFill>
              <a:latin typeface="Segoe UI"/>
              <a:cs typeface="Segoe UI"/>
            </a:endParaRPr>
          </a:p>
        </p:txBody>
      </p:sp>
      <p:sp>
        <p:nvSpPr>
          <p:cNvPr id="12" name="TextBox 11"/>
          <p:cNvSpPr txBox="1"/>
          <p:nvPr/>
        </p:nvSpPr>
        <p:spPr>
          <a:xfrm>
            <a:off x="5367528" y="2395728"/>
            <a:ext cx="5797296" cy="215444"/>
          </a:xfrm>
          <a:prstGeom prst="rect">
            <a:avLst/>
          </a:prstGeom>
          <a:noFill/>
          <a:ln/>
        </p:spPr>
        <p:txBody>
          <a:bodyPr wrap="square" lIns="0" tIns="0" rIns="0" bIns="0" anchor="t">
            <a:spAutoFit/>
          </a:bodyPr>
          <a:lstStyle/>
          <a:p>
            <a:pPr>
              <a:spcAft>
                <a:spcPts val="300"/>
              </a:spcAft>
              <a:defRPr sz="1400" b="0">
                <a:solidFill>
                  <a:srgbClr val="695F5C"/>
                </a:solidFill>
                <a:latin typeface="Aptos"/>
              </a:defRPr>
            </a:pPr>
            <a:r>
              <a:rPr b="0">
                <a:solidFill>
                  <a:srgbClr val="F8F7F5"/>
                </a:solidFill>
                <a:latin typeface="Seaford"/>
              </a:rPr>
              <a:t>Nearly 7 in 10 listed titles are movies.</a:t>
            </a:r>
            <a:endParaRPr lang="en-US" b="0">
              <a:solidFill>
                <a:srgbClr val="F8F7F5"/>
              </a:solidFill>
              <a:latin typeface="Seaford"/>
            </a:endParaRPr>
          </a:p>
        </p:txBody>
      </p:sp>
      <p:sp>
        <p:nvSpPr>
          <p:cNvPr id="13" name="Rounded Rectangle 12"/>
          <p:cNvSpPr/>
          <p:nvPr/>
        </p:nvSpPr>
        <p:spPr>
          <a:xfrm>
            <a:off x="768096" y="3026664"/>
            <a:ext cx="10735056" cy="630936"/>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50976" y="3163824"/>
            <a:ext cx="457200" cy="320040"/>
          </a:xfrm>
          <a:prstGeom prst="rect">
            <a:avLst/>
          </a:prstGeom>
          <a:noFill/>
          <a:ln/>
        </p:spPr>
        <p:txBody>
          <a:bodyPr wrap="square" lIns="0" tIns="0" rIns="0" bIns="0">
            <a:spAutoFit/>
          </a:bodyPr>
          <a:lstStyle/>
          <a:p>
            <a:pPr>
              <a:spcAft>
                <a:spcPts val="300"/>
              </a:spcAft>
              <a:defRPr sz="1300" b="1">
                <a:solidFill>
                  <a:srgbClr val="C51C2C"/>
                </a:solidFill>
                <a:latin typeface="Aptos"/>
              </a:defRPr>
            </a:pPr>
            <a:r>
              <a:rPr b="0">
                <a:solidFill>
                  <a:srgbClr val="F8F7F5"/>
                </a:solidFill>
                <a:latin typeface="Lato"/>
              </a:rPr>
              <a:t>02</a:t>
            </a:r>
          </a:p>
        </p:txBody>
      </p:sp>
      <p:sp>
        <p:nvSpPr>
          <p:cNvPr id="15" name="TextBox 14"/>
          <p:cNvSpPr txBox="1"/>
          <p:nvPr/>
        </p:nvSpPr>
        <p:spPr>
          <a:xfrm>
            <a:off x="1618488" y="3154680"/>
            <a:ext cx="3566160" cy="246221"/>
          </a:xfrm>
          <a:prstGeom prst="rect">
            <a:avLst/>
          </a:prstGeom>
          <a:noFill/>
          <a:ln/>
        </p:spPr>
        <p:txBody>
          <a:bodyPr wrap="square" lIns="0" tIns="0" rIns="0" bIns="0" anchor="t">
            <a:spAutoFit/>
          </a:bodyPr>
          <a:lstStyle/>
          <a:p>
            <a:pPr>
              <a:spcAft>
                <a:spcPts val="300"/>
              </a:spcAft>
              <a:defRPr sz="1600" b="1">
                <a:solidFill>
                  <a:srgbClr val="252127"/>
                </a:solidFill>
                <a:latin typeface="Aptos"/>
              </a:defRPr>
            </a:pPr>
            <a:r>
              <a:rPr b="1">
                <a:solidFill>
                  <a:srgbClr val="E50914"/>
                </a:solidFill>
                <a:latin typeface="Segoe UI"/>
                <a:cs typeface="Segoe UI"/>
              </a:rPr>
              <a:t>CATEGORIES OVERLAP</a:t>
            </a:r>
            <a:endParaRPr lang="en-US" b="1">
              <a:solidFill>
                <a:srgbClr val="E50914"/>
              </a:solidFill>
              <a:latin typeface="Segoe UI"/>
              <a:cs typeface="Segoe UI"/>
            </a:endParaRPr>
          </a:p>
        </p:txBody>
      </p:sp>
      <p:sp>
        <p:nvSpPr>
          <p:cNvPr id="16" name="TextBox 15"/>
          <p:cNvSpPr txBox="1"/>
          <p:nvPr/>
        </p:nvSpPr>
        <p:spPr>
          <a:xfrm>
            <a:off x="5367528" y="3172968"/>
            <a:ext cx="5797296" cy="215444"/>
          </a:xfrm>
          <a:prstGeom prst="rect">
            <a:avLst/>
          </a:prstGeom>
          <a:noFill/>
          <a:ln/>
        </p:spPr>
        <p:txBody>
          <a:bodyPr wrap="square" lIns="0" tIns="0" rIns="0" bIns="0" anchor="t">
            <a:spAutoFit/>
          </a:bodyPr>
          <a:lstStyle/>
          <a:p>
            <a:pPr>
              <a:spcAft>
                <a:spcPts val="300"/>
              </a:spcAft>
              <a:defRPr sz="1400" b="0">
                <a:solidFill>
                  <a:srgbClr val="695F5C"/>
                </a:solidFill>
                <a:latin typeface="Aptos"/>
              </a:defRPr>
            </a:pPr>
            <a:r>
              <a:rPr b="0">
                <a:solidFill>
                  <a:srgbClr val="F8F7F5"/>
                </a:solidFill>
                <a:latin typeface="Seaford"/>
              </a:rPr>
              <a:t>International Movies, Dramas, and Comedies lead.</a:t>
            </a:r>
            <a:endParaRPr lang="en-US" b="0">
              <a:solidFill>
                <a:srgbClr val="F8F7F5"/>
              </a:solidFill>
              <a:latin typeface="Seaford"/>
            </a:endParaRPr>
          </a:p>
        </p:txBody>
      </p:sp>
      <p:sp>
        <p:nvSpPr>
          <p:cNvPr id="17" name="Rounded Rectangle 16"/>
          <p:cNvSpPr/>
          <p:nvPr/>
        </p:nvSpPr>
        <p:spPr>
          <a:xfrm>
            <a:off x="768096" y="3803904"/>
            <a:ext cx="10735056" cy="630936"/>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 y="3941064"/>
            <a:ext cx="457200" cy="320040"/>
          </a:xfrm>
          <a:prstGeom prst="rect">
            <a:avLst/>
          </a:prstGeom>
          <a:noFill/>
          <a:ln/>
        </p:spPr>
        <p:txBody>
          <a:bodyPr wrap="square" lIns="0" tIns="0" rIns="0" bIns="0">
            <a:spAutoFit/>
          </a:bodyPr>
          <a:lstStyle/>
          <a:p>
            <a:pPr>
              <a:spcAft>
                <a:spcPts val="300"/>
              </a:spcAft>
              <a:defRPr sz="1300" b="1">
                <a:solidFill>
                  <a:srgbClr val="C51C2C"/>
                </a:solidFill>
                <a:latin typeface="Aptos"/>
              </a:defRPr>
            </a:pPr>
            <a:r>
              <a:rPr b="0">
                <a:solidFill>
                  <a:srgbClr val="F8F7F5"/>
                </a:solidFill>
                <a:latin typeface="Lato"/>
              </a:rPr>
              <a:t>03</a:t>
            </a:r>
          </a:p>
        </p:txBody>
      </p:sp>
      <p:sp>
        <p:nvSpPr>
          <p:cNvPr id="19" name="TextBox 18"/>
          <p:cNvSpPr txBox="1"/>
          <p:nvPr/>
        </p:nvSpPr>
        <p:spPr>
          <a:xfrm>
            <a:off x="1618488" y="3931920"/>
            <a:ext cx="3566160" cy="246221"/>
          </a:xfrm>
          <a:prstGeom prst="rect">
            <a:avLst/>
          </a:prstGeom>
          <a:noFill/>
          <a:ln/>
        </p:spPr>
        <p:txBody>
          <a:bodyPr wrap="square" lIns="0" tIns="0" rIns="0" bIns="0" anchor="t">
            <a:spAutoFit/>
          </a:bodyPr>
          <a:lstStyle/>
          <a:p>
            <a:pPr>
              <a:spcAft>
                <a:spcPts val="300"/>
              </a:spcAft>
              <a:defRPr sz="1600" b="1">
                <a:solidFill>
                  <a:srgbClr val="252127"/>
                </a:solidFill>
                <a:latin typeface="Aptos"/>
              </a:defRPr>
            </a:pPr>
            <a:r>
              <a:rPr b="1">
                <a:solidFill>
                  <a:srgbClr val="E50914"/>
                </a:solidFill>
                <a:latin typeface="Segoe UI"/>
                <a:cs typeface="Segoe UI"/>
              </a:rPr>
              <a:t>US IS MOST REPRESENTED</a:t>
            </a:r>
            <a:endParaRPr lang="en-US" b="1">
              <a:solidFill>
                <a:srgbClr val="E50914"/>
              </a:solidFill>
              <a:latin typeface="Segoe UI"/>
              <a:cs typeface="Segoe UI"/>
            </a:endParaRPr>
          </a:p>
        </p:txBody>
      </p:sp>
      <p:sp>
        <p:nvSpPr>
          <p:cNvPr id="20" name="TextBox 19"/>
          <p:cNvSpPr txBox="1"/>
          <p:nvPr/>
        </p:nvSpPr>
        <p:spPr>
          <a:xfrm>
            <a:off x="5367528" y="3950208"/>
            <a:ext cx="5797296" cy="215444"/>
          </a:xfrm>
          <a:prstGeom prst="rect">
            <a:avLst/>
          </a:prstGeom>
          <a:noFill/>
          <a:ln/>
        </p:spPr>
        <p:txBody>
          <a:bodyPr wrap="square" lIns="0" tIns="0" rIns="0" bIns="0" anchor="t">
            <a:spAutoFit/>
          </a:bodyPr>
          <a:lstStyle/>
          <a:p>
            <a:pPr>
              <a:spcAft>
                <a:spcPts val="300"/>
              </a:spcAft>
              <a:defRPr sz="1400" b="0">
                <a:solidFill>
                  <a:srgbClr val="695F5C"/>
                </a:solidFill>
                <a:latin typeface="Aptos"/>
              </a:defRPr>
            </a:pPr>
            <a:r>
              <a:rPr b="0">
                <a:solidFill>
                  <a:srgbClr val="F8F7F5"/>
                </a:solidFill>
                <a:latin typeface="Seaford"/>
              </a:rPr>
              <a:t>The U.S. has the highest number of associated titles.</a:t>
            </a:r>
            <a:endParaRPr lang="en-US" b="0">
              <a:solidFill>
                <a:srgbClr val="F8F7F5"/>
              </a:solidFill>
              <a:latin typeface="Seaford"/>
            </a:endParaRPr>
          </a:p>
        </p:txBody>
      </p:sp>
      <p:sp>
        <p:nvSpPr>
          <p:cNvPr id="21" name="Rounded Rectangle 20"/>
          <p:cNvSpPr/>
          <p:nvPr/>
        </p:nvSpPr>
        <p:spPr>
          <a:xfrm>
            <a:off x="768096" y="4581144"/>
            <a:ext cx="10735056" cy="630936"/>
          </a:xfrm>
          <a:prstGeom prst="roundRect">
            <a:avLst>
              <a:gd name="adj" fmla="val 12000"/>
            </a:avLst>
          </a:prstGeom>
          <a:solidFill>
            <a:srgbClr val="1B1B22"/>
          </a:solidFill>
          <a:ln>
            <a:solidFill>
              <a:srgbClr val="383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50976" y="4718304"/>
            <a:ext cx="457200" cy="320040"/>
          </a:xfrm>
          <a:prstGeom prst="rect">
            <a:avLst/>
          </a:prstGeom>
          <a:noFill/>
          <a:ln/>
        </p:spPr>
        <p:txBody>
          <a:bodyPr wrap="square" lIns="0" tIns="0" rIns="0" bIns="0">
            <a:spAutoFit/>
          </a:bodyPr>
          <a:lstStyle/>
          <a:p>
            <a:pPr>
              <a:spcAft>
                <a:spcPts val="300"/>
              </a:spcAft>
              <a:defRPr sz="1300" b="1">
                <a:solidFill>
                  <a:srgbClr val="C51C2C"/>
                </a:solidFill>
                <a:latin typeface="Aptos"/>
              </a:defRPr>
            </a:pPr>
            <a:r>
              <a:rPr b="0">
                <a:solidFill>
                  <a:srgbClr val="F8F7F5"/>
                </a:solidFill>
                <a:latin typeface="Lato"/>
              </a:rPr>
              <a:t>04</a:t>
            </a:r>
          </a:p>
        </p:txBody>
      </p:sp>
      <p:sp>
        <p:nvSpPr>
          <p:cNvPr id="23" name="TextBox 22"/>
          <p:cNvSpPr txBox="1"/>
          <p:nvPr/>
        </p:nvSpPr>
        <p:spPr>
          <a:xfrm>
            <a:off x="1618488" y="4709159"/>
            <a:ext cx="3566160" cy="246221"/>
          </a:xfrm>
          <a:prstGeom prst="rect">
            <a:avLst/>
          </a:prstGeom>
          <a:noFill/>
          <a:ln/>
        </p:spPr>
        <p:txBody>
          <a:bodyPr wrap="square" lIns="0" tIns="0" rIns="0" bIns="0" anchor="t">
            <a:spAutoFit/>
          </a:bodyPr>
          <a:lstStyle/>
          <a:p>
            <a:pPr>
              <a:spcAft>
                <a:spcPts val="300"/>
              </a:spcAft>
              <a:defRPr sz="1600" b="1">
                <a:solidFill>
                  <a:srgbClr val="252127"/>
                </a:solidFill>
                <a:latin typeface="Aptos"/>
              </a:defRPr>
            </a:pPr>
            <a:r>
              <a:rPr lang="en-US" b="1">
                <a:solidFill>
                  <a:srgbClr val="E50914"/>
                </a:solidFill>
                <a:latin typeface="Segoe UI"/>
                <a:cs typeface="Segoe UI"/>
              </a:rPr>
              <a:t>MOVIE DURATIONS</a:t>
            </a:r>
            <a:endParaRPr lang="en-US"/>
          </a:p>
        </p:txBody>
      </p:sp>
      <p:sp>
        <p:nvSpPr>
          <p:cNvPr id="24" name="TextBox 23"/>
          <p:cNvSpPr txBox="1"/>
          <p:nvPr/>
        </p:nvSpPr>
        <p:spPr>
          <a:xfrm>
            <a:off x="5367528" y="4727448"/>
            <a:ext cx="5797296" cy="215444"/>
          </a:xfrm>
          <a:prstGeom prst="rect">
            <a:avLst/>
          </a:prstGeom>
          <a:noFill/>
          <a:ln/>
        </p:spPr>
        <p:txBody>
          <a:bodyPr wrap="square" lIns="0" tIns="0" rIns="0" bIns="0" anchor="t">
            <a:spAutoFit/>
          </a:bodyPr>
          <a:lstStyle/>
          <a:p>
            <a:pPr>
              <a:spcAft>
                <a:spcPts val="300"/>
              </a:spcAft>
              <a:defRPr sz="1400" b="0">
                <a:solidFill>
                  <a:srgbClr val="695F5C"/>
                </a:solidFill>
                <a:latin typeface="Aptos"/>
              </a:defRPr>
            </a:pPr>
            <a:r>
              <a:rPr b="0">
                <a:solidFill>
                  <a:srgbClr val="F8F7F5"/>
                </a:solidFill>
                <a:latin typeface="Seaford"/>
              </a:rPr>
              <a:t>Many movies run approximately 90–120 minutes.</a:t>
            </a:r>
            <a:endParaRPr lang="en-US" b="0">
              <a:solidFill>
                <a:srgbClr val="F8F7F5"/>
              </a:solidFill>
              <a:latin typeface="Seaford"/>
            </a:endParaRPr>
          </a:p>
        </p:txBody>
      </p:sp>
      <p:sp>
        <p:nvSpPr>
          <p:cNvPr id="25" name="Rounded Rectangle 24"/>
          <p:cNvSpPr/>
          <p:nvPr/>
        </p:nvSpPr>
        <p:spPr>
          <a:xfrm>
            <a:off x="768096" y="5550408"/>
            <a:ext cx="10735056" cy="448056"/>
          </a:xfrm>
          <a:prstGeom prst="roundRect">
            <a:avLst>
              <a:gd name="adj" fmla="val 12000"/>
            </a:avLst>
          </a:prstGeom>
          <a:solidFill>
            <a:srgbClr val="25252E"/>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0409" y="5651559"/>
            <a:ext cx="1252728" cy="246221"/>
          </a:xfrm>
          <a:prstGeom prst="rect">
            <a:avLst/>
          </a:prstGeom>
          <a:noFill/>
          <a:ln/>
        </p:spPr>
        <p:txBody>
          <a:bodyPr wrap="square" lIns="0" tIns="0" rIns="0" bIns="0" anchor="t">
            <a:spAutoFit/>
          </a:bodyPr>
          <a:lstStyle/>
          <a:p>
            <a:pPr>
              <a:spcAft>
                <a:spcPts val="300"/>
              </a:spcAft>
              <a:defRPr sz="1100" b="1">
                <a:solidFill>
                  <a:srgbClr val="C51C2C"/>
                </a:solidFill>
                <a:latin typeface="Aptos"/>
              </a:defRPr>
            </a:pPr>
            <a:r>
              <a:rPr sz="1600" b="1">
                <a:solidFill>
                  <a:srgbClr val="E50914"/>
                </a:solidFill>
                <a:latin typeface="Segoe UI"/>
                <a:cs typeface="Segoe UI"/>
              </a:rPr>
              <a:t>LIMITATION</a:t>
            </a:r>
            <a:endParaRPr lang="en-US" sz="1600" b="1">
              <a:solidFill>
                <a:srgbClr val="E50914"/>
              </a:solidFill>
              <a:latin typeface="Segoe UI"/>
              <a:ea typeface="Roboto Condensed"/>
              <a:cs typeface="Segoe UI"/>
            </a:endParaRPr>
          </a:p>
        </p:txBody>
      </p:sp>
      <p:sp>
        <p:nvSpPr>
          <p:cNvPr id="27" name="TextBox 26"/>
          <p:cNvSpPr txBox="1"/>
          <p:nvPr/>
        </p:nvSpPr>
        <p:spPr>
          <a:xfrm>
            <a:off x="2266294" y="5686717"/>
            <a:ext cx="8897112" cy="215444"/>
          </a:xfrm>
          <a:prstGeom prst="rect">
            <a:avLst/>
          </a:prstGeom>
          <a:noFill/>
          <a:ln/>
        </p:spPr>
        <p:txBody>
          <a:bodyPr wrap="square" lIns="0" tIns="0" rIns="0" bIns="0" anchor="t">
            <a:spAutoFit/>
          </a:bodyPr>
          <a:lstStyle/>
          <a:p>
            <a:pPr>
              <a:spcAft>
                <a:spcPts val="300"/>
              </a:spcAft>
              <a:defRPr sz="1200" b="0">
                <a:solidFill>
                  <a:srgbClr val="252127"/>
                </a:solidFill>
                <a:latin typeface="Aptos"/>
              </a:defRPr>
            </a:pPr>
            <a:r>
              <a:rPr lang="en-US" sz="1400">
                <a:solidFill>
                  <a:srgbClr val="F8F7F5"/>
                </a:solidFill>
                <a:latin typeface="Seaford"/>
              </a:rPr>
              <a:t>The dataset includes the catalog </a:t>
            </a:r>
            <a:r>
              <a:rPr sz="1400" b="0" dirty="0">
                <a:solidFill>
                  <a:srgbClr val="F8F7F5"/>
                </a:solidFill>
                <a:latin typeface="Seaford"/>
              </a:rPr>
              <a:t>through September 2021, not Netflix’s current catalog.</a:t>
            </a:r>
            <a:endParaRPr lang="en-US" sz="1400" b="0">
              <a:solidFill>
                <a:srgbClr val="F8F7F5"/>
              </a:solidFill>
              <a:latin typeface="Seafor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186</cp:revision>
  <dcterms:created xsi:type="dcterms:W3CDTF">2013-01-27T09:14:16Z</dcterms:created>
  <dcterms:modified xsi:type="dcterms:W3CDTF">2026-10-28T22:54:40Z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b55589f-69af-4b8f-bb7e-f33b2c49fdb7_Enabled">
    <vt:lpwstr>true</vt:lpwstr>
  </property>
  <property fmtid="{D5CDD505-2E9C-101B-9397-08002B2CF9AE}" pid="3" name="MSIP_Label_db55589f-69af-4b8f-bb7e-f33b2c49fdb7_SetDate">
    <vt:lpwstr>2026-10-28T20:55:03Z</vt:lpwstr>
  </property>
  <property fmtid="{D5CDD505-2E9C-101B-9397-08002B2CF9AE}" pid="4" name="MSIP_Label_db55589f-69af-4b8f-bb7e-f33b2c49fdb7_Method">
    <vt:lpwstr>Standard</vt:lpwstr>
  </property>
  <property fmtid="{D5CDD505-2E9C-101B-9397-08002B2CF9AE}" pid="5" name="MSIP_Label_db55589f-69af-4b8f-bb7e-f33b2c49fdb7_Name">
    <vt:lpwstr>Sensitive (Internal)</vt:lpwstr>
  </property>
  <property fmtid="{D5CDD505-2E9C-101B-9397-08002B2CF9AE}" pid="6" name="MSIP_Label_db55589f-69af-4b8f-bb7e-f33b2c49fdb7_SiteId">
    <vt:lpwstr>4d401e0b-6552-4e08-bd38-a8d15ca0ddd9</vt:lpwstr>
  </property>
  <property fmtid="{D5CDD505-2E9C-101B-9397-08002B2CF9AE}" pid="7" name="MSIP_Label_db55589f-69af-4b8f-bb7e-f33b2c49fdb7_ActionId">
    <vt:lpwstr>c0cf84a3-0498-4096-bc6e-9af4c32b5d6e</vt:lpwstr>
  </property>
  <property fmtid="{D5CDD505-2E9C-101B-9397-08002B2CF9AE}" pid="8" name="MSIP_Label_db55589f-69af-4b8f-bb7e-f33b2c49fdb7_Provider">
    <vt:lpwstr>Varonis.Labeling</vt:lpwstr>
  </property>
  <property fmtid="{D5CDD505-2E9C-101B-9397-08002B2CF9AE}" pid="9" name="MSIP_Label_db55589f-69af-4b8f-bb7e-f33b2c49fdb7_ContentBits">
    <vt:lpwstr>0</vt:lpwstr>
  </property>
</Properties>
</file>